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14"/>
  </p:notesMasterIdLst>
  <p:handoutMasterIdLst>
    <p:handoutMasterId r:id="rId15"/>
  </p:handoutMasterIdLst>
  <p:sldIdLst>
    <p:sldId id="281" r:id="rId5"/>
    <p:sldId id="355" r:id="rId6"/>
    <p:sldId id="283" r:id="rId7"/>
    <p:sldId id="351" r:id="rId8"/>
    <p:sldId id="362" r:id="rId9"/>
    <p:sldId id="369" r:id="rId10"/>
    <p:sldId id="373" r:id="rId11"/>
    <p:sldId id="372" r:id="rId12"/>
    <p:sldId id="365" r:id="rId1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60" userDrawn="1">
          <p15:clr>
            <a:srgbClr val="A4A3A4"/>
          </p15:clr>
        </p15:guide>
        <p15:guide id="2" pos="7392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66" d="100"/>
          <a:sy n="66" d="100"/>
        </p:scale>
        <p:origin x="53" y="408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80"/>
    </p:cViewPr>
  </p:sorterViewPr>
  <p:notesViewPr>
    <p:cSldViewPr snapToGrid="0">
      <p:cViewPr varScale="1">
        <p:scale>
          <a:sx n="83" d="100"/>
          <a:sy n="83" d="100"/>
        </p:scale>
        <p:origin x="391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EB018AA-DEA7-448F-AE2F-C3D13A0F02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FB87A71-96EB-4108-95A3-855A4C3601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75E9C40-2B55-43AB-8539-C48809F2FC17}" type="datetime1">
              <a:rPr lang="en-US" altLang="ko-KR" smtClean="0">
                <a:latin typeface="+mj-ea"/>
                <a:ea typeface="+mj-ea"/>
              </a:rPr>
              <a:t>7/28/2026</a:t>
            </a:fld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45591A-E83D-4F8A-B064-12B29D3154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+mj-ea"/>
              <a:ea typeface="+mj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AF2308-535F-471C-9423-3467454C92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661E857-36B8-43F1-9D87-FE508167BCE3}" type="slidenum">
              <a:rPr lang="en-US" altLang="ko-KR" smtClean="0">
                <a:latin typeface="+mj-ea"/>
                <a:ea typeface="+mj-ea"/>
              </a:rPr>
              <a:t>‹#›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4002314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+mj-ea"/>
                <a:ea typeface="+mj-ea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+mj-ea"/>
                <a:ea typeface="+mj-ea"/>
              </a:defRPr>
            </a:lvl1pPr>
          </a:lstStyle>
          <a:p>
            <a:fld id="{58D25597-25DC-4569-9D2F-FB5CC7243947}" type="datetime1">
              <a:rPr lang="ko-KR" altLang="en-US" smtClean="0"/>
              <a:pPr/>
              <a:t>2026-07-28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+mj-ea"/>
                <a:ea typeface="+mj-ea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+mj-ea"/>
                <a:ea typeface="+mj-ea"/>
              </a:defRPr>
            </a:lvl1pPr>
          </a:lstStyle>
          <a:p>
            <a:fld id="{BCFAAAB6-A2C6-4A85-A3A1-98EFBA61C967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07675299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j-ea"/>
        <a:ea typeface="+mj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i="0">
              <a:effectLst/>
              <a:latin typeface="+mj-ea"/>
              <a:ea typeface="+mj-ea"/>
            </a:endParaRPr>
          </a:p>
          <a:p>
            <a:pPr rtl="0"/>
            <a:r>
              <a:rPr lang="en-US" altLang="ko-KR">
                <a:latin typeface="+mj-ea"/>
                <a:ea typeface="+mj-ea"/>
              </a:rPr>
              <a:t>ID=d924773e-9a16-4d6d-9803-8cb819e99682</a:t>
            </a:r>
            <a:r>
              <a:rPr lang="ko-KR" altLang="en-US">
                <a:latin typeface="+mj-ea"/>
                <a:ea typeface="+mj-ea"/>
              </a:rPr>
              <a:t>
</a:t>
            </a:r>
            <a:r>
              <a:rPr lang="en-US" altLang="ko-KR">
                <a:latin typeface="+mj-ea"/>
                <a:ea typeface="+mj-ea"/>
              </a:rPr>
              <a:t>Recipe=text_billboard
Type=TextOnly
Variant=0
FamilyID=AccentBoxWalbaum_Zero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EAA36B1-75F6-458C-B388-8BC01E9857C8}" type="slidenum">
              <a:rPr lang="en-US" altLang="ko-KR" smtClean="0">
                <a:latin typeface="+mj-ea"/>
                <a:ea typeface="+mj-ea"/>
              </a:rPr>
              <a:t>1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0320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2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93314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3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360312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4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756991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5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9845518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6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44192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C869-6F7B-1906-CE19-7FD845143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0F49E1-DF4E-1A49-576B-413D7D206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584566-933B-CAB6-BBAC-92D147009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9EC12-6B21-EA4C-5642-58132F7208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7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41821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868EA-5135-0E02-E65F-5E7495799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D767EE-C220-79E0-8796-C4244B72F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87BD2-3DB5-7494-0B5B-2E70E4A04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85FA1C-73D2-458E-2B84-6074B9C610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8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298669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i="0">
              <a:effectLst/>
              <a:latin typeface="+mj-ea"/>
              <a:ea typeface="+mj-ea"/>
            </a:endParaRPr>
          </a:p>
          <a:p>
            <a:pPr rtl="0"/>
            <a:r>
              <a:rPr lang="en-US" altLang="ko-KR">
                <a:latin typeface="+mj-ea"/>
                <a:ea typeface="+mj-ea"/>
              </a:rPr>
              <a:t>ID=d924773e-9a16-4d6d-9803-8cb819e99682</a:t>
            </a:r>
            <a:r>
              <a:rPr lang="ko-KR" altLang="en-US">
                <a:latin typeface="+mj-ea"/>
                <a:ea typeface="+mj-ea"/>
              </a:rPr>
              <a:t>
</a:t>
            </a:r>
            <a:r>
              <a:rPr lang="en-US" altLang="ko-KR">
                <a:latin typeface="+mj-ea"/>
                <a:ea typeface="+mj-ea"/>
              </a:rPr>
              <a:t>Recipe=text_billboard
Type=TextOnly
Variant=0
FamilyID=AccentBoxWalbaum_Zero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EAA36B1-75F6-458C-B388-8BC01E9857C8}" type="slidenum">
              <a:rPr lang="en-US" altLang="ko-KR" smtClean="0">
                <a:latin typeface="+mj-ea"/>
                <a:ea typeface="+mj-ea"/>
              </a:rPr>
              <a:t>9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26507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BC5C50C9-5CB7-4938-BEDF-DD2FC7529FA9}"/>
              </a:ext>
            </a:extLst>
          </p:cNvPr>
          <p:cNvSpPr/>
          <p:nvPr userDrawn="1"/>
        </p:nvSpPr>
        <p:spPr>
          <a:xfrm>
            <a:off x="1528762" y="1473243"/>
            <a:ext cx="9144000" cy="3007447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1368" y="1664208"/>
            <a:ext cx="8586216" cy="2176272"/>
          </a:xfrm>
        </p:spPr>
        <p:txBody>
          <a:bodyPr rtlCol="0" anchor="ctr">
            <a:normAutofit/>
          </a:bodyPr>
          <a:lstStyle>
            <a:lvl1pPr algn="ctr">
              <a:defRPr sz="66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7168" y="4142232"/>
            <a:ext cx="7223760" cy="685800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69640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4064" y="1078992"/>
            <a:ext cx="6272784" cy="1536192"/>
          </a:xfrm>
        </p:spPr>
        <p:txBody>
          <a:bodyPr rtlCol="0" anchor="b">
            <a:normAutofit/>
          </a:bodyPr>
          <a:lstStyle>
            <a:lvl1pPr>
              <a:defRPr sz="5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4064" y="3355848"/>
            <a:ext cx="6272784" cy="2825496"/>
          </a:xfrm>
        </p:spPr>
        <p:txBody>
          <a:bodyPr rtlCol="0"/>
          <a:lstStyle>
            <a:lvl1pPr>
              <a:buNone/>
              <a:defRPr sz="1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1648" y="6356350"/>
            <a:ext cx="41148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3EEEC07-DA87-4415-8D6B-72E1B2686535}"/>
              </a:ext>
            </a:extLst>
          </p:cNvPr>
          <p:cNvSpPr/>
          <p:nvPr userDrawn="1"/>
        </p:nvSpPr>
        <p:spPr>
          <a:xfrm rot="5400000">
            <a:off x="5317960" y="363389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CC47E32-D289-4A1B-A3C7-A355CD5572E8}"/>
              </a:ext>
            </a:extLst>
          </p:cNvPr>
          <p:cNvSpPr/>
          <p:nvPr userDrawn="1"/>
        </p:nvSpPr>
        <p:spPr>
          <a:xfrm>
            <a:off x="5099266" y="2935541"/>
            <a:ext cx="621792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603504"/>
            <a:ext cx="4050792" cy="5577840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</p:spTree>
    <p:extLst>
      <p:ext uri="{BB962C8B-B14F-4D97-AF65-F5344CB8AC3E}">
        <p14:creationId xmlns:p14="http://schemas.microsoft.com/office/powerpoint/2010/main" val="3812587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078992"/>
            <a:ext cx="6272784" cy="1536192"/>
          </a:xfrm>
        </p:spPr>
        <p:txBody>
          <a:bodyPr rtlCol="0" anchor="b">
            <a:normAutofit/>
          </a:bodyPr>
          <a:lstStyle>
            <a:lvl1pPr>
              <a:defRPr sz="5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2648" y="3355848"/>
            <a:ext cx="6272784" cy="2825496"/>
          </a:xfrm>
        </p:spPr>
        <p:txBody>
          <a:bodyPr rtlCol="0"/>
          <a:lstStyle>
            <a:lvl1pPr marL="0" indent="0">
              <a:buNone/>
              <a:defRPr sz="1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05272" y="6356350"/>
            <a:ext cx="128016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3EEEC07-DA87-4415-8D6B-72E1B2686535}"/>
              </a:ext>
            </a:extLst>
          </p:cNvPr>
          <p:cNvSpPr/>
          <p:nvPr userDrawn="1"/>
        </p:nvSpPr>
        <p:spPr>
          <a:xfrm rot="5400000">
            <a:off x="850392" y="36576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80960" y="4352544"/>
            <a:ext cx="4507992" cy="2505456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80960" y="0"/>
            <a:ext cx="4507992" cy="4123944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EFA3CC7-31ED-4E5A-87A6-AA1D8F4251FC}"/>
              </a:ext>
            </a:extLst>
          </p:cNvPr>
          <p:cNvSpPr/>
          <p:nvPr userDrawn="1"/>
        </p:nvSpPr>
        <p:spPr>
          <a:xfrm>
            <a:off x="621792" y="2935541"/>
            <a:ext cx="621792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178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B541A812-4D3F-4D65-BA64-BA64E37F2C1D}"/>
              </a:ext>
            </a:extLst>
          </p:cNvPr>
          <p:cNvSpPr/>
          <p:nvPr userDrawn="1"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7013448" cy="2990088"/>
          </a:xfrm>
        </p:spPr>
        <p:txBody>
          <a:bodyPr rtlCol="0" anchor="ctr">
            <a:normAutofit/>
          </a:bodyPr>
          <a:lstStyle>
            <a:lvl1pPr>
              <a:defRPr sz="54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613648" y="1938528"/>
            <a:ext cx="2688336" cy="2990088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  <a:endParaRPr lang="ko-KR" altLang="en-US" noProof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716BBE9-8A9C-450B-A235-677945C7ED44}"/>
              </a:ext>
            </a:extLst>
          </p:cNvPr>
          <p:cNvSpPr/>
          <p:nvPr userDrawn="1"/>
        </p:nvSpPr>
        <p:spPr>
          <a:xfrm>
            <a:off x="609084" y="2965074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855E7BF-3629-4C02-98DF-CFC1C93CE036}"/>
              </a:ext>
            </a:extLst>
          </p:cNvPr>
          <p:cNvSpPr/>
          <p:nvPr userDrawn="1"/>
        </p:nvSpPr>
        <p:spPr>
          <a:xfrm rot="5400000">
            <a:off x="7360539" y="3424428"/>
            <a:ext cx="210312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3540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직사각형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15568" y="2478024"/>
            <a:ext cx="10168128" cy="3694176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01852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93869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rtlCol="0" anchor="ctr">
            <a:normAutofit/>
          </a:bodyPr>
          <a:lstStyle>
            <a:lvl1pPr algn="ctr"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673635DF-99E4-4A0C-A272-D9FF87695DE7}"/>
              </a:ext>
            </a:extLst>
          </p:cNvPr>
          <p:cNvSpPr/>
          <p:nvPr userDrawn="1"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90C76F-6331-4485-AA5B-D61483481F68}"/>
              </a:ext>
            </a:extLst>
          </p:cNvPr>
          <p:cNvSpPr/>
          <p:nvPr userDrawn="1"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41248" y="5102352"/>
            <a:ext cx="10607040" cy="585216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  <a:endParaRPr lang="ko-KR" altLang="en-US" noProof="0"/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ECB2BA4C-9ADA-41DB-B758-9E3CFECDF5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20957ADB-410A-48BE-AA95-3A708314B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112591B-8032-4FDF-9B26-8F505642C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4244522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342F4163-FF9F-453F-99BB-82B8FDB0A1F9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2239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607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6" name="그림 개체 틀 14">
            <a:extLst>
              <a:ext uri="{FF2B5EF4-FFF2-40B4-BE49-F238E27FC236}">
                <a16:creationId xmlns:a16="http://schemas.microsoft.com/office/drawing/2014/main" id="{6B8374DB-2C54-426F-9768-7B838BE1F98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84555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6763C05-47FB-4725-A20D-066889246220}"/>
              </a:ext>
            </a:extLst>
          </p:cNvPr>
          <p:cNvSpPr/>
          <p:nvPr userDrawn="1"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9EDC39EC-C00D-4DE8-8828-E0E5AD579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2" name="그림 개체 틀 14">
            <a:extLst>
              <a:ext uri="{FF2B5EF4-FFF2-40B4-BE49-F238E27FC236}">
                <a16:creationId xmlns:a16="http://schemas.microsoft.com/office/drawing/2014/main" id="{AC393A50-B0FA-44B0-850A-6E748DECA20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99923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33" name="그림 개체 틀 14">
            <a:extLst>
              <a:ext uri="{FF2B5EF4-FFF2-40B4-BE49-F238E27FC236}">
                <a16:creationId xmlns:a16="http://schemas.microsoft.com/office/drawing/2014/main" id="{C19D18E3-AE27-4902-A5E1-1E388C8CA886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026871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C4A1E4D4-19E0-496B-BBAF-99A720781C00}"/>
              </a:ext>
            </a:extLst>
          </p:cNvPr>
          <p:cNvSpPr>
            <a:spLocks noGrp="1"/>
          </p:cNvSpPr>
          <p:nvPr>
            <p:ph type="dt" sz="half" idx="32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D0281C10-EAAA-4F45-8CC9-87F9F9116C21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9175D6-43FD-42A2-8595-893FC3BFCDF6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7" name="텍스트 개체 틀 35">
            <a:extLst>
              <a:ext uri="{FF2B5EF4-FFF2-40B4-BE49-F238E27FC236}">
                <a16:creationId xmlns:a16="http://schemas.microsoft.com/office/drawing/2014/main" id="{28F74B10-F76D-4BBB-A284-01D5A0DF8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431536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38" name="텍스트 개체 틀 35">
            <a:extLst>
              <a:ext uri="{FF2B5EF4-FFF2-40B4-BE49-F238E27FC236}">
                <a16:creationId xmlns:a16="http://schemas.microsoft.com/office/drawing/2014/main" id="{BD245DC2-6D7B-4AEE-B8EE-0D0E473AFFF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845552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39" name="텍스트 개체 틀 35">
            <a:extLst>
              <a:ext uri="{FF2B5EF4-FFF2-40B4-BE49-F238E27FC236}">
                <a16:creationId xmlns:a16="http://schemas.microsoft.com/office/drawing/2014/main" id="{28069EAF-8C82-49CC-8A38-2ACAD26F7DE9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268712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40" name="텍스트 개체 틀 35">
            <a:extLst>
              <a:ext uri="{FF2B5EF4-FFF2-40B4-BE49-F238E27FC236}">
                <a16:creationId xmlns:a16="http://schemas.microsoft.com/office/drawing/2014/main" id="{DAA3B1CD-59B3-4B73-B91A-88CED1D8FDD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94360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41" name="텍스트 개체 틀 35">
            <a:extLst>
              <a:ext uri="{FF2B5EF4-FFF2-40B4-BE49-F238E27FC236}">
                <a16:creationId xmlns:a16="http://schemas.microsoft.com/office/drawing/2014/main" id="{C1FED6B0-DEB7-46E3-8038-FE6788AC24A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008376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431511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직사각형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93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교 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직사각형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07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6072" y="3203688"/>
            <a:ext cx="3291840" cy="2968512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0799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07992" y="3203687"/>
            <a:ext cx="329184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텍스트 개체 틀 4">
            <a:extLst>
              <a:ext uri="{FF2B5EF4-FFF2-40B4-BE49-F238E27FC236}">
                <a16:creationId xmlns:a16="http://schemas.microsoft.com/office/drawing/2014/main" id="{CE04853A-B5A7-418B-B49F-E718136614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3991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내용 개체 틀 5">
            <a:extLst>
              <a:ext uri="{FF2B5EF4-FFF2-40B4-BE49-F238E27FC236}">
                <a16:creationId xmlns:a16="http://schemas.microsoft.com/office/drawing/2014/main" id="{D08E5547-BBB9-4D87-A012-6BC6B133086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39912" y="3203687"/>
            <a:ext cx="329184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ko"/>
          </a:p>
        </p:txBody>
      </p:sp>
    </p:spTree>
    <p:extLst>
      <p:ext uri="{BB962C8B-B14F-4D97-AF65-F5344CB8AC3E}">
        <p14:creationId xmlns:p14="http://schemas.microsoft.com/office/powerpoint/2010/main" val="2202261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2CD68929-9BD1-4A1E-9C1E-5B980D986EC1}"/>
              </a:ext>
            </a:extLst>
          </p:cNvPr>
          <p:cNvSpPr/>
          <p:nvPr userDrawn="1"/>
        </p:nvSpPr>
        <p:spPr>
          <a:xfrm>
            <a:off x="409575" y="633619"/>
            <a:ext cx="4927413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978408"/>
            <a:ext cx="4059936" cy="1106424"/>
          </a:xfrm>
        </p:spPr>
        <p:txBody>
          <a:bodyPr rtlCol="0" anchor="ctr">
            <a:normAutofit/>
          </a:bodyPr>
          <a:lstStyle>
            <a:lvl1pPr>
              <a:defRPr sz="28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ko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59152"/>
            <a:ext cx="4059936" cy="3429000"/>
          </a:xfrm>
        </p:spPr>
        <p:txBody>
          <a:bodyPr rtlCol="0"/>
          <a:lstStyle>
            <a:lvl1pPr marL="0" indent="0">
              <a:buNone/>
              <a:defRPr sz="18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61120" y="566928"/>
            <a:ext cx="2871216" cy="2340864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843016" y="566928"/>
            <a:ext cx="2871216" cy="2340864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ED68CE-A00C-4DD9-8065-B0E3D033BC20}"/>
              </a:ext>
            </a:extLst>
          </p:cNvPr>
          <p:cNvSpPr/>
          <p:nvPr userDrawn="1"/>
        </p:nvSpPr>
        <p:spPr>
          <a:xfrm>
            <a:off x="345567" y="117043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B3EDCB6-603C-4A22-80E6-232A6202452A}"/>
              </a:ext>
            </a:extLst>
          </p:cNvPr>
          <p:cNvSpPr/>
          <p:nvPr userDrawn="1"/>
        </p:nvSpPr>
        <p:spPr>
          <a:xfrm>
            <a:off x="877459" y="2121408"/>
            <a:ext cx="395865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그림 개체 틀 14">
            <a:extLst>
              <a:ext uri="{FF2B5EF4-FFF2-40B4-BE49-F238E27FC236}">
                <a16:creationId xmlns:a16="http://schemas.microsoft.com/office/drawing/2014/main" id="{FBB9124E-D1EB-4540-B1E1-DF3CD388BB2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843016" y="3108960"/>
            <a:ext cx="5989320" cy="305409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8" name="날짜 개체 틀 17">
            <a:extLst>
              <a:ext uri="{FF2B5EF4-FFF2-40B4-BE49-F238E27FC236}">
                <a16:creationId xmlns:a16="http://schemas.microsoft.com/office/drawing/2014/main" id="{88171D0F-B23C-4DA9-9F5D-C5F480A4C5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9" name="바닥글 개체 틀 18">
            <a:extLst>
              <a:ext uri="{FF2B5EF4-FFF2-40B4-BE49-F238E27FC236}">
                <a16:creationId xmlns:a16="http://schemas.microsoft.com/office/drawing/2014/main" id="{69186A5E-A88B-4AD5-8730-E1679229BB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20" name="슬라이드 번호 개체 틀 19">
            <a:extLst>
              <a:ext uri="{FF2B5EF4-FFF2-40B4-BE49-F238E27FC236}">
                <a16:creationId xmlns:a16="http://schemas.microsoft.com/office/drawing/2014/main" id="{FDD4F609-6DE6-4637-A216-DB19D982FF1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971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2CD68929-9BD1-4A1E-9C1E-5B980D986EC1}"/>
              </a:ext>
            </a:extLst>
          </p:cNvPr>
          <p:cNvSpPr/>
          <p:nvPr userDrawn="1"/>
        </p:nvSpPr>
        <p:spPr>
          <a:xfrm>
            <a:off x="7324344" y="630936"/>
            <a:ext cx="4517136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</p:spPr>
        <p:txBody>
          <a:bodyPr rtlCol="0" anchor="ctr">
            <a:normAutofit/>
          </a:bodyPr>
          <a:lstStyle>
            <a:lvl1pPr>
              <a:defRPr sz="28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ko"/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67328" y="630936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1480" y="630936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ED68CE-A00C-4DD9-8065-B0E3D033BC20}"/>
              </a:ext>
            </a:extLst>
          </p:cNvPr>
          <p:cNvSpPr/>
          <p:nvPr userDrawn="1"/>
        </p:nvSpPr>
        <p:spPr>
          <a:xfrm>
            <a:off x="7260336" y="1179576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그림 개체 틀 14">
            <a:extLst>
              <a:ext uri="{FF2B5EF4-FFF2-40B4-BE49-F238E27FC236}">
                <a16:creationId xmlns:a16="http://schemas.microsoft.com/office/drawing/2014/main" id="{FBB9124E-D1EB-4540-B1E1-DF3CD388BB2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11480" y="3438144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8" name="날짜 개체 틀 17">
            <a:extLst>
              <a:ext uri="{FF2B5EF4-FFF2-40B4-BE49-F238E27FC236}">
                <a16:creationId xmlns:a16="http://schemas.microsoft.com/office/drawing/2014/main" id="{88171D0F-B23C-4DA9-9F5D-C5F480A4C5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9" name="바닥글 개체 틀 18">
            <a:extLst>
              <a:ext uri="{FF2B5EF4-FFF2-40B4-BE49-F238E27FC236}">
                <a16:creationId xmlns:a16="http://schemas.microsoft.com/office/drawing/2014/main" id="{69186A5E-A88B-4AD5-8730-E1679229BB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20" name="슬라이드 번호 개체 틀 19">
            <a:extLst>
              <a:ext uri="{FF2B5EF4-FFF2-40B4-BE49-F238E27FC236}">
                <a16:creationId xmlns:a16="http://schemas.microsoft.com/office/drawing/2014/main" id="{FDD4F609-6DE6-4637-A216-DB19D982FF1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5280B1-DD77-4ADB-A6FC-71309BCB66E1}"/>
              </a:ext>
            </a:extLst>
          </p:cNvPr>
          <p:cNvSpPr/>
          <p:nvPr userDrawn="1"/>
        </p:nvSpPr>
        <p:spPr>
          <a:xfrm>
            <a:off x="7792216" y="2185416"/>
            <a:ext cx="3683187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그림 개체 틀 14">
            <a:extLst>
              <a:ext uri="{FF2B5EF4-FFF2-40B4-BE49-F238E27FC236}">
                <a16:creationId xmlns:a16="http://schemas.microsoft.com/office/drawing/2014/main" id="{6B8374DB-2C54-426F-9768-7B838BE1F98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767328" y="3438144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A0D33A8D-B0BB-4920-AAC4-6EE9952AA55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772400" y="3099816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텍스트 개체 틀 7">
            <a:extLst>
              <a:ext uri="{FF2B5EF4-FFF2-40B4-BE49-F238E27FC236}">
                <a16:creationId xmlns:a16="http://schemas.microsoft.com/office/drawing/2014/main" id="{FC2F80E1-DA5D-4EBA-BDBC-FFD24776ED0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772400" y="4215384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텍스트 개체 틀 7">
            <a:extLst>
              <a:ext uri="{FF2B5EF4-FFF2-40B4-BE49-F238E27FC236}">
                <a16:creationId xmlns:a16="http://schemas.microsoft.com/office/drawing/2014/main" id="{536A3E74-5D94-4FE5-A5F8-7DA032AD48A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772400" y="5321808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그림 개체 틀 14">
            <a:extLst>
              <a:ext uri="{FF2B5EF4-FFF2-40B4-BE49-F238E27FC236}">
                <a16:creationId xmlns:a16="http://schemas.microsoft.com/office/drawing/2014/main" id="{A36D2011-9E99-44AA-8612-4EEBAAA5D03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772400" y="2532888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  <p:sp>
        <p:nvSpPr>
          <p:cNvPr id="24" name="그림 개체 틀 14">
            <a:extLst>
              <a:ext uri="{FF2B5EF4-FFF2-40B4-BE49-F238E27FC236}">
                <a16:creationId xmlns:a16="http://schemas.microsoft.com/office/drawing/2014/main" id="{80B0958E-0709-4604-ADAF-A6137275F31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772400" y="3630168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  <p:sp>
        <p:nvSpPr>
          <p:cNvPr id="25" name="그림 개체 틀 14">
            <a:extLst>
              <a:ext uri="{FF2B5EF4-FFF2-40B4-BE49-F238E27FC236}">
                <a16:creationId xmlns:a16="http://schemas.microsoft.com/office/drawing/2014/main" id="{F4A09204-1398-472F-B713-0AD49188773D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772400" y="4754880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</p:spTree>
    <p:extLst>
      <p:ext uri="{BB962C8B-B14F-4D97-AF65-F5344CB8AC3E}">
        <p14:creationId xmlns:p14="http://schemas.microsoft.com/office/powerpoint/2010/main" val="3439343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 userDrawn="1"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 rtlCol="0">
            <a:normAutofit/>
          </a:bodyPr>
          <a:lstStyle>
            <a:lvl1pPr>
              <a:defRPr sz="5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9944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03778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rtlCol="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68680" y="3429000"/>
            <a:ext cx="3099816" cy="2066544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ko" dirty="0"/>
              <a:t>마스터 텍스트 스타일을 편집하려면 클릭하세요.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2245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rtlCol="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 rtlCol="0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/>
              <a:t>그림을 추가하려면 아이콘을 클릭하십시오</a:t>
            </a:r>
            <a:endParaRPr lang="ko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248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178513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30" r:id="rId2"/>
    <p:sldLayoutId id="2147483731" r:id="rId3"/>
    <p:sldLayoutId id="2147483723" r:id="rId4"/>
    <p:sldLayoutId id="2147483722" r:id="rId5"/>
    <p:sldLayoutId id="2147483732" r:id="rId6"/>
    <p:sldLayoutId id="2147483736" r:id="rId7"/>
    <p:sldLayoutId id="2147483725" r:id="rId8"/>
    <p:sldLayoutId id="2147483733" r:id="rId9"/>
    <p:sldLayoutId id="2147483734" r:id="rId10"/>
    <p:sldLayoutId id="2147483735" r:id="rId11"/>
    <p:sldLayoutId id="2147483726" r:id="rId12"/>
    <p:sldLayoutId id="2147483727" r:id="rId13"/>
    <p:sldLayoutId id="2147483728" r:id="rId14"/>
    <p:sldLayoutId id="2147483729" r:id="rId15"/>
  </p:sldLayoutIdLst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858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11430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6002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20574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D9D20-B4BB-42AA-8DDD-68CC9F1D95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1368" y="1570904"/>
            <a:ext cx="8586216" cy="2176272"/>
          </a:xfrm>
        </p:spPr>
        <p:txBody>
          <a:bodyPr rtlCol="0">
            <a:normAutofit fontScale="90000"/>
          </a:bodyPr>
          <a:lstStyle/>
          <a:p>
            <a:pPr algn="l" latinLnBrk="0">
              <a:lnSpc>
                <a:spcPct val="100000"/>
              </a:lnSpc>
            </a:pPr>
            <a:r>
              <a:rPr lang="ko-KR" altLang="en-US" sz="5400" b="1" i="0" dirty="0">
                <a:solidFill>
                  <a:srgbClr val="1A1918"/>
                </a:solidFill>
                <a:effectLst/>
                <a:latin typeface="Pretendard"/>
              </a:rPr>
              <a:t>문제 </a:t>
            </a:r>
            <a:r>
              <a:rPr lang="en-US" altLang="ko-KR" sz="5400" b="1" i="0" dirty="0">
                <a:solidFill>
                  <a:srgbClr val="1A1918"/>
                </a:solidFill>
                <a:effectLst/>
                <a:latin typeface="Pretendard"/>
              </a:rPr>
              <a:t>4. </a:t>
            </a:r>
            <a:r>
              <a:rPr lang="ko-KR" altLang="en-US" sz="5400" i="0" dirty="0">
                <a:solidFill>
                  <a:srgbClr val="1A1918"/>
                </a:solidFill>
                <a:effectLst/>
                <a:latin typeface="Pretendard"/>
              </a:rPr>
              <a:t>연령대별로 선호하는</a:t>
            </a:r>
            <a:b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</a:br>
            <a: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  <a:t>             </a:t>
            </a:r>
            <a:r>
              <a:rPr lang="ko-KR" altLang="en-US" sz="5400" i="0" dirty="0">
                <a:solidFill>
                  <a:srgbClr val="1A1918"/>
                </a:solidFill>
                <a:effectLst/>
                <a:latin typeface="Pretendard"/>
              </a:rPr>
              <a:t> 영화 장르가 다를까</a:t>
            </a:r>
            <a: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  <a:t>?</a:t>
            </a:r>
            <a:endParaRPr lang="ko-KR" altLang="en-US" sz="5400" i="0" dirty="0">
              <a:solidFill>
                <a:srgbClr val="1A1918"/>
              </a:solidFill>
              <a:effectLst/>
              <a:latin typeface="Pretendard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9E8FDB-60EE-45AE-BB89-9A561A61C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2596" y="4850892"/>
            <a:ext cx="7223760" cy="685800"/>
          </a:xfrm>
        </p:spPr>
        <p:txBody>
          <a:bodyPr rtlCol="0">
            <a:normAutofit fontScale="92500"/>
          </a:bodyPr>
          <a:lstStyle/>
          <a:p>
            <a:pPr rtl="0"/>
            <a:r>
              <a:rPr lang="en-US" altLang="ko-KR" dirty="0"/>
              <a:t>C2: </a:t>
            </a:r>
            <a:r>
              <a:rPr lang="ko-KR" altLang="en-US" dirty="0" err="1"/>
              <a:t>정호성</a:t>
            </a:r>
            <a:r>
              <a:rPr lang="en-US" altLang="ko-KR" dirty="0"/>
              <a:t>(</a:t>
            </a:r>
            <a:r>
              <a:rPr lang="ko-KR" altLang="en-US" dirty="0"/>
              <a:t>발표</a:t>
            </a:r>
            <a:r>
              <a:rPr lang="en-US" altLang="ko-KR" dirty="0"/>
              <a:t>), </a:t>
            </a:r>
            <a:r>
              <a:rPr lang="ko-KR" altLang="en-US" dirty="0" err="1"/>
              <a:t>표시철</a:t>
            </a:r>
            <a:r>
              <a:rPr lang="en-US" altLang="ko-KR" dirty="0"/>
              <a:t>(</a:t>
            </a:r>
            <a:r>
              <a:rPr lang="ko-KR" altLang="en-US" dirty="0"/>
              <a:t>팀장</a:t>
            </a:r>
            <a:r>
              <a:rPr lang="en-US" altLang="ko-KR" dirty="0"/>
              <a:t>), </a:t>
            </a:r>
            <a:r>
              <a:rPr lang="ko-KR" altLang="en-US" dirty="0"/>
              <a:t>전유나</a:t>
            </a:r>
            <a:r>
              <a:rPr lang="en-US" altLang="ko-KR" dirty="0"/>
              <a:t>, </a:t>
            </a:r>
            <a:r>
              <a:rPr lang="ko-KR" altLang="en-US" dirty="0"/>
              <a:t>안나영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10914292-E1E1-B559-47DC-044705F03DCB}"/>
              </a:ext>
            </a:extLst>
          </p:cNvPr>
          <p:cNvSpPr txBox="1">
            <a:spLocks/>
          </p:cNvSpPr>
          <p:nvPr/>
        </p:nvSpPr>
        <p:spPr>
          <a:xfrm>
            <a:off x="1726723" y="3499959"/>
            <a:ext cx="8586216" cy="771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2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목표</a:t>
            </a:r>
            <a:r>
              <a:rPr lang="en-US" altLang="ko-KR" sz="2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: “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카이제곱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독립성 검정(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Chi-squared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Test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of 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Independence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)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”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으로</a:t>
            </a:r>
          </a:p>
          <a:p>
            <a:pPr>
              <a:lnSpc>
                <a:spcPct val="130000"/>
              </a:lnSpc>
            </a:pP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  두 범주형 변수 사이에 연관성이 있는지 검증합니다.</a:t>
            </a:r>
          </a:p>
        </p:txBody>
      </p:sp>
    </p:spTree>
    <p:extLst>
      <p:ext uri="{BB962C8B-B14F-4D97-AF65-F5344CB8AC3E}">
        <p14:creationId xmlns:p14="http://schemas.microsoft.com/office/powerpoint/2010/main" val="183373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4A85B-2AC6-4E29-B074-AB92F8FA9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4064" y="1293596"/>
            <a:ext cx="6272784" cy="1536192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sz="4000" dirty="0"/>
              <a:t>4</a:t>
            </a:r>
            <a:r>
              <a:rPr lang="en-US" altLang="ko-KR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 실습</a:t>
            </a:r>
          </a:p>
        </p:txBody>
      </p:sp>
      <p:pic>
        <p:nvPicPr>
          <p:cNvPr id="11" name="그림 개체 틀 10" descr="팀 작업 손 제스처">
            <a:extLst>
              <a:ext uri="{FF2B5EF4-FFF2-40B4-BE49-F238E27FC236}">
                <a16:creationId xmlns:a16="http://schemas.microsoft.com/office/drawing/2014/main" id="{41749033-B92E-4E63-82DE-801849DA2B1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16" r="16"/>
          <a:stretch/>
        </p:blipFill>
        <p:spPr/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2AB0EB-0819-41F4-99E9-C02FA0DAF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6096" y="3180321"/>
            <a:ext cx="6365344" cy="2825496"/>
          </a:xfrm>
        </p:spPr>
        <p:txBody>
          <a:bodyPr rtlCol="0">
            <a:normAutofit fontScale="92500" lnSpcReduction="20000"/>
          </a:bodyPr>
          <a:lstStyle/>
          <a:p>
            <a:r>
              <a:rPr lang="en-US" altLang="ko-KR" sz="1600" b="1" dirty="0"/>
              <a:t>Q1:</a:t>
            </a:r>
            <a:r>
              <a:rPr lang="en-US" altLang="ko-KR" sz="1600" dirty="0"/>
              <a:t> </a:t>
            </a:r>
            <a:r>
              <a:rPr lang="ko-KR" altLang="ko-KR" sz="1600" dirty="0"/>
              <a:t>귀무가설(</a:t>
            </a:r>
            <a:r>
              <a:rPr lang="ko-KR" altLang="ko-KR" sz="1600" dirty="0" err="1"/>
              <a:t>H</a:t>
            </a:r>
            <a:r>
              <a:rPr lang="ko-KR" altLang="ko-KR" sz="1600" dirty="0"/>
              <a:t>₀)과 대립가설(</a:t>
            </a:r>
            <a:r>
              <a:rPr lang="ko-KR" altLang="ko-KR" sz="1600" dirty="0" err="1"/>
              <a:t>H</a:t>
            </a:r>
            <a:r>
              <a:rPr lang="ko-KR" altLang="ko-KR" sz="1600" dirty="0"/>
              <a:t>₁)을 세워 봅시다.</a:t>
            </a:r>
            <a:endParaRPr lang="en-US" altLang="ko-KR" sz="1600" dirty="0"/>
          </a:p>
          <a:p>
            <a:endParaRPr lang="en-US" altLang="ko-KR" sz="200" dirty="0"/>
          </a:p>
          <a:p>
            <a:r>
              <a:rPr lang="en-US" altLang="ko-KR" sz="1600" b="1" dirty="0"/>
              <a:t>Q2:</a:t>
            </a:r>
            <a:r>
              <a:rPr lang="en-US" altLang="ko-KR" sz="1600" dirty="0"/>
              <a:t> </a:t>
            </a:r>
            <a:r>
              <a:rPr lang="ko-KR" altLang="ko-KR" sz="1600" dirty="0" err="1"/>
              <a:t>카이제곱</a:t>
            </a:r>
            <a:r>
              <a:rPr lang="ko-KR" altLang="ko-KR" sz="1600" dirty="0"/>
              <a:t> 독립성 검정을 수행하여 </a:t>
            </a:r>
            <a:r>
              <a:rPr lang="ko-KR" altLang="ko-KR" sz="1600" dirty="0" err="1"/>
              <a:t>카이제곱</a:t>
            </a:r>
            <a:r>
              <a:rPr lang="ko-KR" altLang="ko-KR" sz="1600" dirty="0"/>
              <a:t> 통계량, </a:t>
            </a:r>
            <a:endParaRPr lang="en-US" altLang="ko-KR" sz="1600" dirty="0"/>
          </a:p>
          <a:p>
            <a:r>
              <a:rPr lang="en-US" altLang="ko-KR" sz="1600" dirty="0"/>
              <a:t>      </a:t>
            </a:r>
            <a:r>
              <a:rPr lang="ko-KR" altLang="ko-KR" sz="1600" dirty="0" err="1"/>
              <a:t>p</a:t>
            </a:r>
            <a:r>
              <a:rPr lang="en-US" altLang="ko-KR" sz="1600" dirty="0"/>
              <a:t>-value</a:t>
            </a:r>
            <a:r>
              <a:rPr lang="ko-KR" altLang="ko-KR" sz="1600" dirty="0"/>
              <a:t>,</a:t>
            </a:r>
            <a:r>
              <a:rPr lang="en-US" altLang="ko-KR" sz="1600" dirty="0"/>
              <a:t> </a:t>
            </a:r>
            <a:r>
              <a:rPr lang="ko-KR" altLang="ko-KR" sz="1600" dirty="0"/>
              <a:t>자유도, </a:t>
            </a:r>
            <a:r>
              <a:rPr lang="ko-KR" altLang="ko-KR" sz="1600" b="1" dirty="0">
                <a:solidFill>
                  <a:schemeClr val="accent1"/>
                </a:solidFill>
              </a:rPr>
              <a:t>기대 빈도</a:t>
            </a:r>
            <a:r>
              <a:rPr lang="ko-KR" altLang="ko-KR" sz="1600" dirty="0"/>
              <a:t>를 구해봅시다.</a:t>
            </a:r>
            <a:endParaRPr lang="en-US" altLang="ko-KR" sz="1600" dirty="0"/>
          </a:p>
          <a:p>
            <a:endParaRPr lang="en-US" altLang="ko-KR" sz="200" dirty="0"/>
          </a:p>
          <a:p>
            <a:r>
              <a:rPr lang="en-US" altLang="ko-KR" sz="1600" b="1" dirty="0"/>
              <a:t>Q3:</a:t>
            </a:r>
            <a:r>
              <a:rPr lang="en-US" altLang="ko-KR" sz="1600" dirty="0"/>
              <a:t> </a:t>
            </a:r>
            <a:r>
              <a:rPr lang="ko-KR" altLang="ko-KR" sz="1600" b="1" dirty="0">
                <a:solidFill>
                  <a:schemeClr val="accent1"/>
                </a:solidFill>
              </a:rPr>
              <a:t>"연령대와 선호 장르가 독립이라면“</a:t>
            </a:r>
            <a:r>
              <a:rPr lang="en-US" altLang="ko-KR" sz="1600" b="1" dirty="0">
                <a:solidFill>
                  <a:schemeClr val="accent1"/>
                </a:solidFill>
              </a:rPr>
              <a:t> </a:t>
            </a:r>
            <a:r>
              <a:rPr lang="ko-KR" altLang="ko-KR" sz="1600" dirty="0"/>
              <a:t>어떤 분할표들이</a:t>
            </a:r>
            <a:endParaRPr lang="en-US" altLang="ko-KR" sz="1600" dirty="0"/>
          </a:p>
          <a:p>
            <a:r>
              <a:rPr lang="en-US" altLang="ko-KR" sz="1600" dirty="0"/>
              <a:t>      </a:t>
            </a:r>
            <a:r>
              <a:rPr lang="ko-KR" altLang="ko-KR" sz="1600" dirty="0"/>
              <a:t>나타날</a:t>
            </a:r>
            <a:r>
              <a:rPr lang="en-US" altLang="ko-KR" sz="1600" dirty="0"/>
              <a:t> </a:t>
            </a:r>
            <a:r>
              <a:rPr lang="ko-KR" altLang="en-US" sz="1600" dirty="0"/>
              <a:t>수</a:t>
            </a:r>
            <a:r>
              <a:rPr lang="en-US" altLang="ko-KR" sz="1600" dirty="0"/>
              <a:t> </a:t>
            </a:r>
            <a:r>
              <a:rPr lang="ko-KR" altLang="ko-KR" sz="1600" dirty="0"/>
              <a:t>있는지 5,000번 시뮬레이션해 봅시다.</a:t>
            </a:r>
            <a:endParaRPr lang="en-US" altLang="ko-KR" sz="1600" dirty="0"/>
          </a:p>
          <a:p>
            <a:endParaRPr lang="ko-KR" altLang="ko-KR" sz="200" dirty="0"/>
          </a:p>
          <a:p>
            <a:pPr marL="0" indent="0"/>
            <a:r>
              <a:rPr lang="en-US" altLang="ko-KR" sz="1500" b="1" dirty="0"/>
              <a:t>Q4:</a:t>
            </a:r>
            <a:r>
              <a:rPr lang="en-US" altLang="ko-KR" sz="1500" dirty="0"/>
              <a:t> </a:t>
            </a:r>
            <a:r>
              <a:rPr lang="ko-KR" altLang="ko-KR" sz="1500" dirty="0"/>
              <a:t>시뮬레이션으로 얻은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 분포와 실제 관찰된</a:t>
            </a:r>
            <a:endParaRPr lang="en-US" altLang="ko-KR" sz="1500" dirty="0"/>
          </a:p>
          <a:p>
            <a:pPr marL="0" indent="0"/>
            <a:r>
              <a:rPr lang="en-US" altLang="ko-KR" sz="1500" dirty="0"/>
              <a:t>     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통계량을 비교해 봅시다.</a:t>
            </a:r>
          </a:p>
          <a:p>
            <a:pPr marL="0" indent="0"/>
            <a:endParaRPr lang="ko-KR" altLang="en-US" sz="1600" dirty="0"/>
          </a:p>
          <a:p>
            <a:pPr marL="0" indent="0" rtl="0">
              <a:lnSpc>
                <a:spcPct val="110000"/>
              </a:lnSpc>
              <a:buNone/>
            </a:pPr>
            <a:endParaRPr lang="ko-KR" altLang="en-US" sz="1600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14E39E-D8A0-4428-97D8-FE5452322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9FA539-2DA6-4197-AA13-56E0C3395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78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ko-KR" altLang="en-US" sz="3000" dirty="0"/>
              <a:t>관측 데이터 생성</a:t>
            </a:r>
            <a:endParaRPr lang="ko-KR" altLang="en-US" sz="3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바닥글 개체 틀 4">
            <a:extLst>
              <a:ext uri="{FF2B5EF4-FFF2-40B4-BE49-F238E27FC236}">
                <a16:creationId xmlns:a16="http://schemas.microsoft.com/office/drawing/2014/main" id="{D65C8300-CD8E-4F35-9B79-C5DE7AD9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4E797B30-1740-4A68-A40B-1D255EBC2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3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4EDC270-87EA-5055-9CCF-6D03ECB95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290" y="2360930"/>
            <a:ext cx="5605710" cy="3856990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3BF2127-F825-A0CA-B0EE-5DC324A9D1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900049"/>
              </p:ext>
            </p:extLst>
          </p:nvPr>
        </p:nvGraphicFramePr>
        <p:xfrm>
          <a:off x="6641085" y="2758440"/>
          <a:ext cx="464261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063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813795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943753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/>
                        <a:t>액션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/>
                        <a:t>로맨스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20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70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50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60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40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60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4" name="제목 1">
            <a:extLst>
              <a:ext uri="{FF2B5EF4-FFF2-40B4-BE49-F238E27FC236}">
                <a16:creationId xmlns:a16="http://schemas.microsoft.com/office/drawing/2014/main" id="{5F45C32B-2578-37ED-7275-303F49852B03}"/>
              </a:ext>
            </a:extLst>
          </p:cNvPr>
          <p:cNvSpPr txBox="1">
            <a:spLocks/>
          </p:cNvSpPr>
          <p:nvPr/>
        </p:nvSpPr>
        <p:spPr>
          <a:xfrm>
            <a:off x="6641084" y="4432787"/>
            <a:ext cx="4642611" cy="13939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000" b="1" dirty="0">
                <a:sym typeface="Wingdings" panose="05000000000000000000" pitchFamily="2" charset="2"/>
              </a:rPr>
              <a:t>두 변수</a:t>
            </a:r>
            <a:r>
              <a:rPr lang="en-US" altLang="ko-KR" sz="2000" b="1" dirty="0">
                <a:sym typeface="Wingdings" panose="05000000000000000000" pitchFamily="2" charset="2"/>
              </a:rPr>
              <a:t>(</a:t>
            </a:r>
            <a:r>
              <a:rPr lang="ko-KR" altLang="en-US" sz="2000" b="1" dirty="0">
                <a:sym typeface="Wingdings" panose="05000000000000000000" pitchFamily="2" charset="2"/>
              </a:rPr>
              <a:t>연령대 </a:t>
            </a:r>
            <a:r>
              <a:rPr lang="en-US" altLang="ko-KR" sz="2000" b="1" dirty="0">
                <a:sym typeface="Wingdings" panose="05000000000000000000" pitchFamily="2" charset="2"/>
              </a:rPr>
              <a:t>&amp; </a:t>
            </a:r>
            <a:r>
              <a:rPr lang="ko-KR" altLang="en-US" sz="2000" b="1" dirty="0">
                <a:sym typeface="Wingdings" panose="05000000000000000000" pitchFamily="2" charset="2"/>
              </a:rPr>
              <a:t>영화 장르</a:t>
            </a:r>
            <a:r>
              <a:rPr lang="en-US" altLang="ko-KR" sz="2000" b="1" dirty="0">
                <a:sym typeface="Wingdings" panose="05000000000000000000" pitchFamily="2" charset="2"/>
              </a:rPr>
              <a:t>) </a:t>
            </a:r>
            <a:r>
              <a:rPr lang="ko-KR" altLang="en-US" sz="2000" b="1" dirty="0">
                <a:sym typeface="Wingdings" panose="05000000000000000000" pitchFamily="2" charset="2"/>
              </a:rPr>
              <a:t>사이에 연관성이 있는지를 분석해보고 싶음</a:t>
            </a:r>
            <a:endParaRPr lang="en-US" altLang="ko-KR" sz="2000" b="1" dirty="0">
              <a:sym typeface="Wingdings" panose="05000000000000000000" pitchFamily="2" charset="2"/>
            </a:endParaRPr>
          </a:p>
          <a:p>
            <a:endParaRPr lang="en-US" altLang="ko-KR" sz="1000" b="1" dirty="0"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ko-KR" altLang="en-US" sz="2000" dirty="0" err="1"/>
              <a:t>카이제곱</a:t>
            </a:r>
            <a:r>
              <a:rPr lang="ko-KR" altLang="en-US" sz="2000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독립성</a:t>
            </a:r>
            <a:r>
              <a:rPr lang="en-US" altLang="ko-KR" sz="2000" dirty="0"/>
              <a:t>) </a:t>
            </a:r>
            <a:r>
              <a:rPr lang="ko-KR" altLang="en-US" sz="2000" dirty="0"/>
              <a:t>검정 실행</a:t>
            </a:r>
            <a:endParaRPr lang="ko-KR" altLang="ko-KR" sz="2000" dirty="0"/>
          </a:p>
        </p:txBody>
      </p:sp>
    </p:spTree>
    <p:extLst>
      <p:ext uri="{BB962C8B-B14F-4D97-AF65-F5344CB8AC3E}">
        <p14:creationId xmlns:p14="http://schemas.microsoft.com/office/powerpoint/2010/main" val="832742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728" y="546576"/>
            <a:ext cx="10168128" cy="1179576"/>
          </a:xfrm>
        </p:spPr>
        <p:txBody>
          <a:bodyPr rtlCol="0">
            <a:normAutofit/>
          </a:bodyPr>
          <a:lstStyle/>
          <a:p>
            <a:r>
              <a:rPr lang="en-US" altLang="ko-KR" sz="3000" dirty="0"/>
              <a:t>Q1, Q2: </a:t>
            </a:r>
            <a:r>
              <a:rPr lang="ko-KR" altLang="en-US" sz="3000" dirty="0"/>
              <a:t>가설설정 </a:t>
            </a:r>
            <a:r>
              <a:rPr lang="en-US" altLang="ko-KR" sz="3000" dirty="0"/>
              <a:t>&amp; </a:t>
            </a:r>
            <a:r>
              <a:rPr lang="ko-KR" altLang="en-US" sz="3000" dirty="0"/>
              <a:t>기대빈도 구하기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74124F-DFC1-729F-4936-BC855084F033}"/>
              </a:ext>
            </a:extLst>
          </p:cNvPr>
          <p:cNvSpPr txBox="1"/>
          <p:nvPr/>
        </p:nvSpPr>
        <p:spPr>
          <a:xfrm>
            <a:off x="545616" y="2139507"/>
            <a:ext cx="718946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ko-KR" altLang="ko-KR" sz="145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₀ (귀무가설): 연령대와 선호 장르는 서로 독립이다 (관련이 없다).</a:t>
            </a:r>
          </a:p>
          <a:p>
            <a:pPr>
              <a:buNone/>
            </a:pPr>
            <a:r>
              <a:rPr lang="en-US" altLang="ko-KR" sz="14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5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₁ (대립가설): 연령대와 선호 장르는 서로 독립이 아니다 (관련이 있다).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5357F6D-81F0-E7CD-BE3E-50915B479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258236"/>
              </p:ext>
            </p:extLst>
          </p:nvPr>
        </p:nvGraphicFramePr>
        <p:xfrm>
          <a:off x="8062328" y="3017067"/>
          <a:ext cx="3563618" cy="1225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365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393174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491079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02783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70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60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60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41D31F6-D4E7-2909-0FE7-ADBF49EF2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713726"/>
              </p:ext>
            </p:extLst>
          </p:nvPr>
        </p:nvGraphicFramePr>
        <p:xfrm>
          <a:off x="8062327" y="4431173"/>
          <a:ext cx="3563619" cy="1225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365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385088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499166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02783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0B330E4-57FA-8D7D-3E4D-3B792EACC843}"/>
              </a:ext>
            </a:extLst>
          </p:cNvPr>
          <p:cNvSpPr txBox="1"/>
          <p:nvPr/>
        </p:nvSpPr>
        <p:spPr>
          <a:xfrm>
            <a:off x="6592566" y="5817837"/>
            <a:ext cx="54162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i="0" dirty="0" err="1">
                <a:effectLst/>
                <a:latin typeface="Consolas" panose="020B0609020204030204" pitchFamily="49" charset="0"/>
              </a:rPr>
              <a:t>카이제곱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 통계량: 26.9091</a:t>
            </a:r>
            <a:r>
              <a:rPr lang="en-US" altLang="ko-KR" sz="1200" dirty="0">
                <a:latin typeface="Consolas" panose="020B0609020204030204" pitchFamily="49" charset="0"/>
              </a:rPr>
              <a:t> 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/ 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자유도: 2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 / </a:t>
            </a:r>
            <a:r>
              <a:rPr lang="ko-KR" altLang="ko-KR" sz="1200" b="0" i="0" dirty="0" err="1">
                <a:effectLst/>
                <a:latin typeface="Consolas" panose="020B0609020204030204" pitchFamily="49" charset="0"/>
              </a:rPr>
              <a:t>p-value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: 0.00000143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)</a:t>
            </a:r>
            <a:endParaRPr lang="ko-KR" alt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3390079-3A1C-8163-64DF-8B3D01DEA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16" y="2752883"/>
            <a:ext cx="5985750" cy="3518895"/>
          </a:xfrm>
          <a:prstGeom prst="rect">
            <a:avLst/>
          </a:prstGeom>
        </p:spPr>
      </p:pic>
      <p:sp>
        <p:nvSpPr>
          <p:cNvPr id="16" name="제목 1">
            <a:extLst>
              <a:ext uri="{FF2B5EF4-FFF2-40B4-BE49-F238E27FC236}">
                <a16:creationId xmlns:a16="http://schemas.microsoft.com/office/drawing/2014/main" id="{5AFC1E01-F4D3-80D1-5795-731C53C5AB18}"/>
              </a:ext>
            </a:extLst>
          </p:cNvPr>
          <p:cNvSpPr txBox="1">
            <a:spLocks/>
          </p:cNvSpPr>
          <p:nvPr/>
        </p:nvSpPr>
        <p:spPr>
          <a:xfrm>
            <a:off x="6561966" y="3394606"/>
            <a:ext cx="146976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/>
              <a:t>&lt;</a:t>
            </a:r>
            <a:r>
              <a:rPr lang="ko-KR" altLang="en-US" sz="1800" dirty="0"/>
              <a:t>관측빈도</a:t>
            </a:r>
            <a:r>
              <a:rPr lang="en-US" altLang="ko-KR" sz="1800" dirty="0"/>
              <a:t>&gt;</a:t>
            </a:r>
            <a:endParaRPr lang="ko-KR" altLang="en-US" sz="1800" dirty="0"/>
          </a:p>
        </p:txBody>
      </p:sp>
      <p:sp>
        <p:nvSpPr>
          <p:cNvPr id="18" name="제목 1">
            <a:extLst>
              <a:ext uri="{FF2B5EF4-FFF2-40B4-BE49-F238E27FC236}">
                <a16:creationId xmlns:a16="http://schemas.microsoft.com/office/drawing/2014/main" id="{3395ECAB-4F9A-39DE-3D09-572372A5CAE9}"/>
              </a:ext>
            </a:extLst>
          </p:cNvPr>
          <p:cNvSpPr txBox="1">
            <a:spLocks/>
          </p:cNvSpPr>
          <p:nvPr/>
        </p:nvSpPr>
        <p:spPr>
          <a:xfrm>
            <a:off x="6592566" y="4822491"/>
            <a:ext cx="146976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/>
              <a:t>&lt;</a:t>
            </a:r>
            <a:r>
              <a:rPr lang="ko-KR" altLang="en-US" sz="1800" dirty="0"/>
              <a:t>기대빈도</a:t>
            </a:r>
            <a:r>
              <a:rPr lang="en-US" altLang="ko-KR" sz="1800" dirty="0"/>
              <a:t>&gt;</a:t>
            </a:r>
            <a:endParaRPr lang="ko-KR" altLang="en-US" sz="1800" dirty="0"/>
          </a:p>
        </p:txBody>
      </p:sp>
      <p:sp>
        <p:nvSpPr>
          <p:cNvPr id="19" name="바닥글 개체 틀 4">
            <a:extLst>
              <a:ext uri="{FF2B5EF4-FFF2-40B4-BE49-F238E27FC236}">
                <a16:creationId xmlns:a16="http://schemas.microsoft.com/office/drawing/2014/main" id="{66E67008-BE67-B725-C3FB-AD10F0A43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4266353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9264" y="589280"/>
            <a:ext cx="10314432" cy="1179576"/>
          </a:xfrm>
        </p:spPr>
        <p:txBody>
          <a:bodyPr rtlCol="0">
            <a:normAutofit/>
          </a:bodyPr>
          <a:lstStyle/>
          <a:p>
            <a:pPr>
              <a:lnSpc>
                <a:spcPct val="130000"/>
              </a:lnSpc>
            </a:pPr>
            <a:r>
              <a:rPr lang="en-US" altLang="ko-KR" sz="2400" dirty="0"/>
              <a:t>Q3, Q4: </a:t>
            </a:r>
            <a:r>
              <a:rPr lang="ko-KR" altLang="ko-KR" sz="2400" dirty="0"/>
              <a:t>연령대와 선호 장르가 독립이라면" 어떤 분할표들이 나타날 수 있는지 5,000번 시뮬레이션해</a:t>
            </a:r>
            <a:r>
              <a:rPr lang="ko-KR" altLang="en-US" sz="2400" dirty="0"/>
              <a:t>보고 히스토그램으로 그려보기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8A54C40-C66F-CDC4-C3C7-7335241B9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199" y="2161354"/>
            <a:ext cx="5336301" cy="41530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C17AC7F-C2B3-20A2-1579-364A6ADE3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0312" y="2327319"/>
            <a:ext cx="5775649" cy="3727981"/>
          </a:xfrm>
          <a:prstGeom prst="rect">
            <a:avLst/>
          </a:prstGeom>
        </p:spPr>
      </p:pic>
      <p:sp>
        <p:nvSpPr>
          <p:cNvPr id="8" name="바닥글 개체 틀 4">
            <a:extLst>
              <a:ext uri="{FF2B5EF4-FFF2-40B4-BE49-F238E27FC236}">
                <a16:creationId xmlns:a16="http://schemas.microsoft.com/office/drawing/2014/main" id="{0CC4D592-FB9A-E9A5-C929-B4F3A1A88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ED6998-E359-68A6-E311-B18DC20039F7}"/>
              </a:ext>
            </a:extLst>
          </p:cNvPr>
          <p:cNvSpPr txBox="1"/>
          <p:nvPr/>
        </p:nvSpPr>
        <p:spPr>
          <a:xfrm>
            <a:off x="6674735" y="6080373"/>
            <a:ext cx="609407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Anthropic Sans"/>
              </a:rPr>
              <a:t>( </a:t>
            </a:r>
            <a:r>
              <a:rPr lang="ko-KR" altLang="ko-KR" sz="1000" b="0" i="0" dirty="0">
                <a:effectLst/>
                <a:latin typeface="Anthropic Sans"/>
              </a:rPr>
              <a:t>시뮬레이션 기반 </a:t>
            </a:r>
            <a:r>
              <a:rPr lang="ko-KR" altLang="ko-KR" sz="1000" b="0" i="0" dirty="0" err="1">
                <a:effectLst/>
                <a:latin typeface="Anthropic Sans"/>
              </a:rPr>
              <a:t>p-value</a:t>
            </a:r>
            <a:r>
              <a:rPr lang="ko-KR" altLang="ko-KR" sz="1000" b="0" i="0" dirty="0">
                <a:effectLst/>
                <a:latin typeface="Anthropic Sans"/>
              </a:rPr>
              <a:t>: 0.00000000 </a:t>
            </a:r>
            <a:r>
              <a:rPr lang="en-US" altLang="ko-KR" sz="1000" b="0" i="0" dirty="0">
                <a:effectLst/>
                <a:latin typeface="Anthropic Sans"/>
              </a:rPr>
              <a:t>/ </a:t>
            </a:r>
            <a:r>
              <a:rPr lang="ko-KR" altLang="ko-KR" sz="1000" b="0" i="0" dirty="0" err="1">
                <a:effectLst/>
                <a:latin typeface="Anthropic Sans"/>
              </a:rPr>
              <a:t>카이제곱</a:t>
            </a:r>
            <a:r>
              <a:rPr lang="ko-KR" altLang="ko-KR" sz="1000" b="0" i="0" dirty="0">
                <a:effectLst/>
                <a:latin typeface="Anthropic Sans"/>
              </a:rPr>
              <a:t> 검정 </a:t>
            </a:r>
            <a:r>
              <a:rPr lang="ko-KR" altLang="ko-KR" sz="1000" b="0" i="0" dirty="0" err="1">
                <a:effectLst/>
                <a:latin typeface="Anthropic Sans"/>
              </a:rPr>
              <a:t>p-value</a:t>
            </a:r>
            <a:r>
              <a:rPr lang="ko-KR" altLang="ko-KR" sz="1000" b="0" i="0" dirty="0">
                <a:effectLst/>
                <a:latin typeface="Anthropic Sans"/>
              </a:rPr>
              <a:t>: 0.00000143</a:t>
            </a:r>
            <a:r>
              <a:rPr lang="en-US" altLang="ko-KR" sz="1000" b="0" i="0" dirty="0">
                <a:effectLst/>
                <a:latin typeface="Anthropic Sans"/>
              </a:rPr>
              <a:t>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015848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972" y="763099"/>
            <a:ext cx="10168128" cy="1179576"/>
          </a:xfrm>
        </p:spPr>
        <p:txBody>
          <a:bodyPr rtlCol="0">
            <a:normAutofit/>
          </a:bodyPr>
          <a:lstStyle/>
          <a:p>
            <a:r>
              <a:rPr lang="ko-KR" altLang="en-US" sz="2700" dirty="0"/>
              <a:t>🧠 데이터를 어떻게 읽을까요</a:t>
            </a:r>
            <a:r>
              <a:rPr lang="en-US" altLang="ko-KR" sz="2700" dirty="0"/>
              <a:t>?</a:t>
            </a:r>
            <a:br>
              <a:rPr lang="en-US" altLang="ko-KR" sz="2700" dirty="0"/>
            </a:br>
            <a:endParaRPr lang="ko-KR" altLang="en-US" sz="2700" dirty="0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125119-0732-41D5-AB74-44B1C1A56A7C}"/>
              </a:ext>
            </a:extLst>
          </p:cNvPr>
          <p:cNvSpPr txBox="1"/>
          <p:nvPr/>
        </p:nvSpPr>
        <p:spPr>
          <a:xfrm>
            <a:off x="499499" y="2351145"/>
            <a:ext cx="110580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Q1: </a:t>
            </a:r>
            <a:r>
              <a:rPr lang="ko-KR" altLang="ko-KR" b="1" dirty="0"/>
              <a:t>'기대 </a:t>
            </a:r>
            <a:r>
              <a:rPr lang="ko-KR" altLang="ko-KR" b="1" dirty="0" err="1"/>
              <a:t>빈도'는</a:t>
            </a:r>
            <a:r>
              <a:rPr lang="ko-KR" altLang="ko-KR" b="1" dirty="0"/>
              <a:t> 어떤 의미를 가지며, '관측 </a:t>
            </a:r>
            <a:r>
              <a:rPr lang="ko-KR" altLang="ko-KR" b="1" dirty="0" err="1"/>
              <a:t>빈도'와의</a:t>
            </a:r>
            <a:r>
              <a:rPr lang="ko-KR" altLang="ko-KR" b="1" dirty="0"/>
              <a:t> 차이가 클수록 </a:t>
            </a:r>
            <a:r>
              <a:rPr lang="ko-KR" altLang="ko-KR" b="1" dirty="0" err="1"/>
              <a:t>카이제곱</a:t>
            </a:r>
            <a:r>
              <a:rPr lang="ko-KR" altLang="ko-KR" b="1" dirty="0"/>
              <a:t> 통계량은 어떻게 변할까요?</a:t>
            </a:r>
          </a:p>
          <a:p>
            <a:endParaRPr lang="en-US" altLang="ko-KR" b="1" dirty="0"/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BAEDE44-EBF1-9224-4557-E5D5852EC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270675"/>
              </p:ext>
            </p:extLst>
          </p:nvPr>
        </p:nvGraphicFramePr>
        <p:xfrm>
          <a:off x="674422" y="3921485"/>
          <a:ext cx="4049977" cy="1549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2084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574123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703770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87307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873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873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873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5" name="제목 1">
            <a:extLst>
              <a:ext uri="{FF2B5EF4-FFF2-40B4-BE49-F238E27FC236}">
                <a16:creationId xmlns:a16="http://schemas.microsoft.com/office/drawing/2014/main" id="{C4EBAF0D-569A-F44D-0622-E399B136FF09}"/>
              </a:ext>
            </a:extLst>
          </p:cNvPr>
          <p:cNvSpPr txBox="1">
            <a:spLocks/>
          </p:cNvSpPr>
          <p:nvPr/>
        </p:nvSpPr>
        <p:spPr>
          <a:xfrm>
            <a:off x="1789654" y="3367487"/>
            <a:ext cx="181951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/>
              <a:t>&lt;</a:t>
            </a:r>
            <a:r>
              <a:rPr lang="ko-KR" altLang="en-US" sz="1800" dirty="0"/>
              <a:t>기대빈도 표</a:t>
            </a:r>
            <a:r>
              <a:rPr lang="en-US" altLang="ko-KR" sz="1800" dirty="0"/>
              <a:t>&gt;</a:t>
            </a:r>
            <a:endParaRPr lang="ko-KR" altLang="en-US" sz="1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88864E-3792-6858-9690-572550D8592D}"/>
              </a:ext>
            </a:extLst>
          </p:cNvPr>
          <p:cNvSpPr txBox="1"/>
          <p:nvPr/>
        </p:nvSpPr>
        <p:spPr>
          <a:xfrm>
            <a:off x="4942380" y="3123017"/>
            <a:ext cx="609872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altLang="ko-KR" sz="1500" b="0" dirty="0">
              <a:effectLst/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b="0" dirty="0">
                <a:effectLst/>
              </a:rPr>
              <a:t>기대 빈도는 "만약 연령대와 선호 장르가 정말 서로 독립(아무 관련 없음)이라면, 이론적으로 나와야 할 </a:t>
            </a:r>
            <a:r>
              <a:rPr lang="ko-KR" altLang="ko-KR" sz="1500" b="0" dirty="0" err="1">
                <a:effectLst/>
              </a:rPr>
              <a:t>빈도"를</a:t>
            </a:r>
            <a:r>
              <a:rPr lang="ko-KR" altLang="ko-KR" sz="1500" b="0" dirty="0">
                <a:effectLst/>
              </a:rPr>
              <a:t> 뜻한다. 예를 들어 20대-액션 칸의 기대 빈도(50.0)는, 전체 액션/로맨스 비율과 연령대 비율만 가지고 계산한 "우연히 예상되는 </a:t>
            </a:r>
            <a:r>
              <a:rPr lang="ko-KR" altLang="ko-KR" sz="1500" b="0" dirty="0" err="1">
                <a:effectLst/>
              </a:rPr>
              <a:t>값"이다</a:t>
            </a:r>
            <a:r>
              <a:rPr lang="ko-KR" altLang="ko-KR" sz="1500" b="0" dirty="0">
                <a:effectLst/>
              </a:rPr>
              <a:t>.</a:t>
            </a:r>
            <a:endParaRPr lang="en-US" altLang="ko-KR" sz="1500" b="0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/>
              <a:t>관측 빈도(실제 데이터)와 기대 빈도(독립 가정 시 </a:t>
            </a:r>
            <a:r>
              <a:rPr lang="ko-KR" altLang="ko-KR" sz="1500" dirty="0" err="1"/>
              <a:t>이론값</a:t>
            </a:r>
            <a:r>
              <a:rPr lang="ko-KR" altLang="ko-KR" sz="1500" dirty="0"/>
              <a:t>)의 차이가 클수록,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통계량은 커진다.</a:t>
            </a: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 err="1"/>
              <a:t>카이제곱</a:t>
            </a:r>
            <a:r>
              <a:rPr lang="ko-KR" altLang="ko-KR" sz="1500" dirty="0"/>
              <a:t> 통계량 자체가 </a:t>
            </a:r>
            <a:r>
              <a:rPr lang="en-US" altLang="ko-KR" sz="1500" dirty="0"/>
              <a:t>“</a:t>
            </a:r>
            <a:r>
              <a:rPr lang="ko-KR" altLang="ko-KR" sz="1500" dirty="0"/>
              <a:t>(관측-기대)²/기대 값</a:t>
            </a:r>
            <a:r>
              <a:rPr lang="en-US" altLang="ko-KR" sz="1500" dirty="0"/>
              <a:t>”</a:t>
            </a:r>
            <a:r>
              <a:rPr lang="ko-KR" altLang="ko-KR" sz="1500" dirty="0"/>
              <a:t>들을 모두 더한 것이기 때문에, 두 값의 괴리가 클수록 "독립이라는 가정과 실제 데이터가 안 </a:t>
            </a:r>
            <a:r>
              <a:rPr lang="ko-KR" altLang="ko-KR" sz="1500" dirty="0" err="1"/>
              <a:t>맞는다"는</a:t>
            </a:r>
            <a:r>
              <a:rPr lang="ko-KR" altLang="ko-KR" sz="1500" dirty="0"/>
              <a:t> 신호가 강해지는 것이다.</a:t>
            </a:r>
          </a:p>
          <a:p>
            <a:pPr>
              <a:buNone/>
            </a:pPr>
            <a:endParaRPr lang="ko-KR" altLang="ko-KR" sz="1500" b="0" dirty="0">
              <a:effectLst/>
            </a:endParaRPr>
          </a:p>
        </p:txBody>
      </p:sp>
      <p:sp>
        <p:nvSpPr>
          <p:cNvPr id="20" name="바닥글 개체 틀 4">
            <a:extLst>
              <a:ext uri="{FF2B5EF4-FFF2-40B4-BE49-F238E27FC236}">
                <a16:creationId xmlns:a16="http://schemas.microsoft.com/office/drawing/2014/main" id="{86326B41-82A3-B48C-3C37-AE8E2E295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2397001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FD493-BA8A-2160-0507-C3A56D50B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8D061934-AB00-DAFA-33A3-BCD60089F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E08944-80E1-6501-90FB-044581AB0C53}"/>
              </a:ext>
            </a:extLst>
          </p:cNvPr>
          <p:cNvSpPr txBox="1"/>
          <p:nvPr/>
        </p:nvSpPr>
        <p:spPr>
          <a:xfrm>
            <a:off x="566969" y="2287969"/>
            <a:ext cx="110580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Q2: </a:t>
            </a:r>
            <a:r>
              <a:rPr lang="ko-KR" altLang="ko-KR" b="1" dirty="0"/>
              <a:t>Q4의 히스토그램은 어떤 분포를 시각화한 것인가요? 실제 관찰된 </a:t>
            </a:r>
            <a:r>
              <a:rPr lang="ko-KR" altLang="ko-KR" b="1" dirty="0" err="1"/>
              <a:t>카이제곱</a:t>
            </a:r>
            <a:r>
              <a:rPr lang="ko-KR" altLang="ko-KR" b="1" dirty="0"/>
              <a:t> 통계량(세로선)은 흔한 값인가요, 극단적인 값인가요?</a:t>
            </a:r>
          </a:p>
          <a:p>
            <a:endParaRPr lang="en-US" altLang="ko-KR" b="1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E0F714-EDCC-2563-97FD-22378AC1D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30" y="3106695"/>
            <a:ext cx="5187696" cy="334847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5561A58-15B7-D9D8-E33A-CDA3AC8A9DFA}"/>
              </a:ext>
            </a:extLst>
          </p:cNvPr>
          <p:cNvSpPr txBox="1"/>
          <p:nvPr/>
        </p:nvSpPr>
        <p:spPr>
          <a:xfrm>
            <a:off x="5650953" y="3592179"/>
            <a:ext cx="609872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b="0" dirty="0">
                <a:effectLst/>
              </a:rPr>
              <a:t>이 히스토그램은 "연령대와 선호 장르가 </a:t>
            </a:r>
            <a:r>
              <a:rPr lang="ko-KR" altLang="ko-KR" sz="1500" b="0" dirty="0" err="1">
                <a:effectLst/>
              </a:rPr>
              <a:t>독립이다"라는</a:t>
            </a:r>
            <a:r>
              <a:rPr lang="ko-KR" altLang="ko-KR" sz="1500" b="0" dirty="0">
                <a:effectLst/>
              </a:rPr>
              <a:t> 귀무가설이 참이라고 가정했을 때, 300명을 무작위로 반복 추출하여 나올 수 있는 </a:t>
            </a:r>
            <a:r>
              <a:rPr lang="ko-KR" altLang="ko-KR" sz="1500" b="0" dirty="0" err="1">
                <a:effectLst/>
              </a:rPr>
              <a:t>카이제곱</a:t>
            </a:r>
            <a:r>
              <a:rPr lang="ko-KR" altLang="ko-KR" sz="1500" b="0" dirty="0">
                <a:effectLst/>
              </a:rPr>
              <a:t> 통계량들의 분포를 나타낸다.</a:t>
            </a:r>
            <a:endParaRPr lang="en-US" altLang="ko-KR" sz="1500" b="0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b="0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/>
              <a:t>실제 관찰된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통계량(26.91)은 매우 극단적인 값이다. 분포 대부분이 0~10 사이에 몰려 있는데, </a:t>
            </a:r>
            <a:r>
              <a:rPr lang="ko-KR" altLang="ko-KR" sz="1500" dirty="0" err="1"/>
              <a:t>관찰값은</a:t>
            </a:r>
            <a:r>
              <a:rPr lang="ko-KR" altLang="ko-KR" sz="1500" dirty="0"/>
              <a:t> 그 범위를 훨씬 벗어난 오른쪽 끝에 위치해 있다. </a:t>
            </a: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/>
              <a:t>즉 두 변수가 독립이라면 이런 값이 나오는 건 거의 불가능에 가깝다.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ko-KR" altLang="ko-KR" sz="1500" b="0" dirty="0">
              <a:effectLst/>
            </a:endParaRPr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64212755-8188-F1A3-9B5B-BE1966E26EEE}"/>
              </a:ext>
            </a:extLst>
          </p:cNvPr>
          <p:cNvSpPr txBox="1">
            <a:spLocks/>
          </p:cNvSpPr>
          <p:nvPr/>
        </p:nvSpPr>
        <p:spPr>
          <a:xfrm>
            <a:off x="872972" y="763099"/>
            <a:ext cx="10168128" cy="11795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700"/>
              <a:t>🧠 데이터를 어떻게 읽을까요</a:t>
            </a:r>
            <a:r>
              <a:rPr lang="en-US" altLang="ko-KR" sz="2700"/>
              <a:t>?</a:t>
            </a:r>
            <a:br>
              <a:rPr lang="en-US" altLang="ko-KR" sz="2700"/>
            </a:br>
            <a:endParaRPr lang="ko-KR" altLang="en-US" sz="2700" dirty="0"/>
          </a:p>
        </p:txBody>
      </p:sp>
      <p:sp>
        <p:nvSpPr>
          <p:cNvPr id="21" name="바닥글 개체 틀 4">
            <a:extLst>
              <a:ext uri="{FF2B5EF4-FFF2-40B4-BE49-F238E27FC236}">
                <a16:creationId xmlns:a16="http://schemas.microsoft.com/office/drawing/2014/main" id="{F91245D2-04D3-A2E1-C527-DA49B08F3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3931414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28B1A-9EEF-C25E-C880-D5BB6B52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FBC51D4E-8DA9-AFF4-F1D4-EACEEA105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493120-638B-CC19-F180-691722FA2DFA}"/>
              </a:ext>
            </a:extLst>
          </p:cNvPr>
          <p:cNvSpPr txBox="1"/>
          <p:nvPr/>
        </p:nvSpPr>
        <p:spPr>
          <a:xfrm>
            <a:off x="518160" y="2109033"/>
            <a:ext cx="1105806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50" b="1" dirty="0"/>
              <a:t>Q3: </a:t>
            </a:r>
            <a:r>
              <a:rPr lang="ko-KR" altLang="ko-KR" sz="1650" b="1" dirty="0"/>
              <a:t>유의수준 0.05에서, 연령대와 선호 장르 사이에 통계적으로 유의미한 연관성이 있다고 결론 내릴 수 있나요? 그 이유는 무엇인가요?</a:t>
            </a:r>
            <a:endParaRPr lang="en-US" altLang="ko-KR" sz="1650" b="1" dirty="0"/>
          </a:p>
          <a:p>
            <a:endParaRPr lang="en-US" altLang="ko-KR" sz="1650" dirty="0"/>
          </a:p>
          <a:p>
            <a:r>
              <a:rPr lang="en-US" altLang="ko-KR" sz="1650" b="1" dirty="0"/>
              <a:t>A4:  </a:t>
            </a:r>
            <a:r>
              <a:rPr lang="ko-KR" altLang="ko-KR" sz="1500" dirty="0" err="1"/>
              <a:t>p-value</a:t>
            </a:r>
            <a:r>
              <a:rPr lang="ko-KR" altLang="ko-KR" sz="1500" dirty="0"/>
              <a:t>(0.00000143)가 유의수준 0.05보다 훨씬 작기 때문에 귀무가설(독립이다)을 기각한다.</a:t>
            </a:r>
            <a:endParaRPr lang="en-US" altLang="ko-KR" sz="1500" dirty="0"/>
          </a:p>
          <a:p>
            <a:r>
              <a:rPr lang="en-US" altLang="ko-KR" sz="1500" dirty="0"/>
              <a:t>         </a:t>
            </a:r>
            <a:r>
              <a:rPr lang="ko-KR" altLang="ko-KR" sz="1500" dirty="0"/>
              <a:t>즉 연령대와 선호 장르 사이에는 우연이라고 보기 어려운, 통계적으로 유의미한 연관성이 존재한다.</a:t>
            </a:r>
          </a:p>
          <a:p>
            <a:endParaRPr lang="ko-KR" altLang="ko-KR" sz="1650" dirty="0"/>
          </a:p>
          <a:p>
            <a:endParaRPr lang="ko-KR" altLang="ko-KR" sz="1650" dirty="0"/>
          </a:p>
          <a:p>
            <a:endParaRPr lang="en-US" altLang="ko-KR" sz="16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ECDD2-56F4-CEEC-0EA9-C7371F9CF9D8}"/>
              </a:ext>
            </a:extLst>
          </p:cNvPr>
          <p:cNvSpPr txBox="1"/>
          <p:nvPr/>
        </p:nvSpPr>
        <p:spPr>
          <a:xfrm>
            <a:off x="518159" y="3424817"/>
            <a:ext cx="11058061" cy="3036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650" b="1" dirty="0"/>
          </a:p>
          <a:p>
            <a:r>
              <a:rPr lang="en-US" altLang="ko-KR" sz="1650" b="1" dirty="0"/>
              <a:t>Q4: </a:t>
            </a:r>
            <a:r>
              <a:rPr lang="ko-KR" altLang="ko-KR" sz="1650" b="1" dirty="0"/>
              <a:t>이 결과를 바탕으로 영화관은 연령대별로 어떤 상영 전략이나 프로모션을 세울 수 있을까요?</a:t>
            </a:r>
          </a:p>
          <a:p>
            <a:endParaRPr lang="en-US" altLang="ko-KR" sz="1650" dirty="0"/>
          </a:p>
          <a:p>
            <a:pPr>
              <a:lnSpc>
                <a:spcPct val="120000"/>
              </a:lnSpc>
            </a:pPr>
            <a:r>
              <a:rPr lang="en-US" altLang="ko-KR" sz="1650" b="1" dirty="0"/>
              <a:t>A4:</a:t>
            </a:r>
            <a:r>
              <a:rPr lang="en-US" altLang="ko-KR" sz="1650" dirty="0"/>
              <a:t> </a:t>
            </a:r>
            <a:r>
              <a:rPr lang="ko-KR" altLang="ko-KR" sz="1500" dirty="0"/>
              <a:t>관측 빈도를 보면 20대는 액션(70명)을 로맨스(30명)보다 훨씬 선호하고,</a:t>
            </a:r>
            <a:r>
              <a:rPr lang="en-US" altLang="ko-KR" sz="1500" dirty="0"/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500" dirty="0"/>
              <a:t>         </a:t>
            </a:r>
            <a:r>
              <a:rPr lang="ko-KR" altLang="ko-KR" sz="1500" dirty="0"/>
              <a:t>40대는 반대로 로맨스(60명)를 액션(30명)보다</a:t>
            </a:r>
            <a:r>
              <a:rPr lang="en-US" altLang="ko-KR" sz="1500" dirty="0"/>
              <a:t> </a:t>
            </a:r>
            <a:r>
              <a:rPr lang="ko-KR" altLang="ko-KR" sz="1500" dirty="0"/>
              <a:t>선호하는 뚜렷한 경향이 있다. 30대는 두 장르 선호도가 비슷하다(50 </a:t>
            </a:r>
            <a:r>
              <a:rPr lang="ko-KR" altLang="ko-KR" sz="1500" dirty="0" err="1"/>
              <a:t>vs</a:t>
            </a:r>
            <a:r>
              <a:rPr lang="ko-KR" altLang="ko-KR" sz="1500" dirty="0"/>
              <a:t> 60).</a:t>
            </a:r>
          </a:p>
          <a:p>
            <a:endParaRPr lang="en-US" altLang="ko-KR" sz="1500" dirty="0"/>
          </a:p>
          <a:p>
            <a:r>
              <a:rPr lang="ko-KR" altLang="en-US" sz="1500" dirty="0"/>
              <a:t>         따라서 다음 </a:t>
            </a:r>
            <a:r>
              <a:rPr lang="ko-KR" altLang="ko-KR" sz="1500" dirty="0"/>
              <a:t>세 방향으로 마케팅 전략을 세울 수 있다.</a:t>
            </a:r>
            <a:endParaRPr lang="en-US" altLang="ko-KR" sz="1500" dirty="0"/>
          </a:p>
          <a:p>
            <a:endParaRPr lang="en-US" altLang="ko-KR" sz="500" dirty="0"/>
          </a:p>
          <a:p>
            <a:pPr>
              <a:lnSpc>
                <a:spcPct val="120000"/>
              </a:lnSpc>
            </a:pPr>
            <a:r>
              <a:rPr lang="en-US" altLang="ko-KR" sz="1500" dirty="0"/>
              <a:t>           </a:t>
            </a:r>
            <a:r>
              <a:rPr lang="ko-KR" altLang="ko-KR" sz="1500" dirty="0"/>
              <a:t>① 연령대별 타겟 프로모션(20대-액션 </a:t>
            </a:r>
            <a:r>
              <a:rPr lang="ko-KR" altLang="ko-KR" sz="1500" dirty="0" err="1"/>
              <a:t>굿즈·SNS</a:t>
            </a:r>
            <a:r>
              <a:rPr lang="ko-KR" altLang="ko-KR" sz="1500" dirty="0"/>
              <a:t> 이벤트</a:t>
            </a:r>
            <a:r>
              <a:rPr lang="en-US" altLang="ko-KR" sz="1500" dirty="0"/>
              <a:t> </a:t>
            </a:r>
            <a:r>
              <a:rPr lang="ko-KR" altLang="en-US" sz="1500" dirty="0"/>
              <a:t>등</a:t>
            </a:r>
            <a:r>
              <a:rPr lang="ko-KR" altLang="ko-KR" sz="1500" dirty="0"/>
              <a:t>)</a:t>
            </a:r>
            <a:endParaRPr lang="en-US" altLang="ko-KR" sz="1500" dirty="0"/>
          </a:p>
          <a:p>
            <a:pPr>
              <a:lnSpc>
                <a:spcPct val="120000"/>
              </a:lnSpc>
            </a:pPr>
            <a:r>
              <a:rPr lang="en-US" altLang="ko-KR" sz="1500" dirty="0"/>
              <a:t>           </a:t>
            </a:r>
            <a:r>
              <a:rPr lang="ko-KR" altLang="ko-KR" sz="1500" dirty="0"/>
              <a:t>② </a:t>
            </a:r>
            <a:r>
              <a:rPr lang="ko-KR" altLang="ko-KR" sz="1500" dirty="0" err="1"/>
              <a:t>상영관·시간대</a:t>
            </a:r>
            <a:r>
              <a:rPr lang="ko-KR" altLang="ko-KR" sz="1500" dirty="0"/>
              <a:t> 배정 최적화(선호 연령대가 몰리는 시간에 관련 장르 상영 비중 확대)</a:t>
            </a:r>
            <a:endParaRPr lang="en-US" altLang="ko-KR" sz="1500" dirty="0"/>
          </a:p>
          <a:p>
            <a:pPr>
              <a:lnSpc>
                <a:spcPct val="120000"/>
              </a:lnSpc>
            </a:pPr>
            <a:r>
              <a:rPr lang="en-US" altLang="ko-KR" sz="1500" dirty="0"/>
              <a:t>           </a:t>
            </a:r>
            <a:r>
              <a:rPr lang="ko-KR" altLang="ko-KR" sz="1500" dirty="0"/>
              <a:t>③ 데이터 기반 개인화 추천(연령대별 선호 데이터를 멤버십에 반영한 맞춤 추천)</a:t>
            </a:r>
            <a:endParaRPr lang="en-US" altLang="ko-KR" sz="1500" dirty="0"/>
          </a:p>
          <a:p>
            <a:endParaRPr lang="en-US" altLang="ko-KR" sz="1500" dirty="0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E5AD171C-00A3-76F5-747C-DCE812FCA588}"/>
              </a:ext>
            </a:extLst>
          </p:cNvPr>
          <p:cNvCxnSpPr/>
          <p:nvPr/>
        </p:nvCxnSpPr>
        <p:spPr>
          <a:xfrm flipV="1">
            <a:off x="518158" y="3499465"/>
            <a:ext cx="11058061" cy="7046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제목 1">
            <a:extLst>
              <a:ext uri="{FF2B5EF4-FFF2-40B4-BE49-F238E27FC236}">
                <a16:creationId xmlns:a16="http://schemas.microsoft.com/office/drawing/2014/main" id="{85550DD5-C0B4-8618-7DC5-5C55EDAA402A}"/>
              </a:ext>
            </a:extLst>
          </p:cNvPr>
          <p:cNvSpPr txBox="1">
            <a:spLocks/>
          </p:cNvSpPr>
          <p:nvPr/>
        </p:nvSpPr>
        <p:spPr>
          <a:xfrm>
            <a:off x="872972" y="763099"/>
            <a:ext cx="10168128" cy="11795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700"/>
              <a:t>🧠 데이터를 어떻게 읽을까요</a:t>
            </a:r>
            <a:r>
              <a:rPr lang="en-US" altLang="ko-KR" sz="2700"/>
              <a:t>?</a:t>
            </a:r>
            <a:br>
              <a:rPr lang="en-US" altLang="ko-KR" sz="2700"/>
            </a:br>
            <a:endParaRPr lang="ko-KR" altLang="en-US" sz="2700" dirty="0"/>
          </a:p>
        </p:txBody>
      </p:sp>
      <p:sp>
        <p:nvSpPr>
          <p:cNvPr id="20" name="바닥글 개체 틀 4">
            <a:extLst>
              <a:ext uri="{FF2B5EF4-FFF2-40B4-BE49-F238E27FC236}">
                <a16:creationId xmlns:a16="http://schemas.microsoft.com/office/drawing/2014/main" id="{0E05E690-8793-E732-B103-945FD423B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674061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D9D20-B4BB-42AA-8DDD-68CC9F1D9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 latinLnBrk="0"/>
            <a:r>
              <a:rPr lang="ko-KR" altLang="en-US" sz="5400" b="1" i="0" dirty="0">
                <a:solidFill>
                  <a:srgbClr val="1A1918"/>
                </a:solidFill>
                <a:effectLst/>
                <a:latin typeface="Pretendard"/>
              </a:rPr>
              <a:t>감사합니다</a:t>
            </a:r>
            <a:r>
              <a:rPr lang="en-US" altLang="ko-KR" sz="5400" b="1" i="0" dirty="0">
                <a:solidFill>
                  <a:srgbClr val="1A1918"/>
                </a:solidFill>
                <a:effectLst/>
                <a:latin typeface="Pretendard"/>
              </a:rPr>
              <a:t>.</a:t>
            </a:r>
            <a:endParaRPr lang="ko-KR" altLang="en-US" sz="5400" b="1" i="0" dirty="0">
              <a:solidFill>
                <a:srgbClr val="1A1918"/>
              </a:solidFill>
              <a:effectLst/>
              <a:latin typeface="Pretendard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9E8FDB-60EE-45AE-BB89-9A561A61C2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92500"/>
          </a:bodyPr>
          <a:lstStyle/>
          <a:p>
            <a:pPr rtl="0"/>
            <a:r>
              <a:rPr lang="en-US" altLang="ko-KR" dirty="0"/>
              <a:t>C2: </a:t>
            </a:r>
            <a:r>
              <a:rPr lang="ko-KR" altLang="en-US" dirty="0" err="1"/>
              <a:t>정호성</a:t>
            </a:r>
            <a:r>
              <a:rPr lang="en-US" altLang="ko-KR" dirty="0"/>
              <a:t>(</a:t>
            </a:r>
            <a:r>
              <a:rPr lang="ko-KR" altLang="en-US" dirty="0"/>
              <a:t>발표</a:t>
            </a:r>
            <a:r>
              <a:rPr lang="en-US" altLang="ko-KR" dirty="0"/>
              <a:t>), </a:t>
            </a:r>
            <a:r>
              <a:rPr lang="ko-KR" altLang="en-US" dirty="0" err="1"/>
              <a:t>표시철</a:t>
            </a:r>
            <a:r>
              <a:rPr lang="en-US" altLang="ko-KR" dirty="0"/>
              <a:t>(</a:t>
            </a:r>
            <a:r>
              <a:rPr lang="ko-KR" altLang="en-US" dirty="0"/>
              <a:t>팀장</a:t>
            </a:r>
            <a:r>
              <a:rPr lang="en-US" altLang="ko-KR" dirty="0"/>
              <a:t>), </a:t>
            </a:r>
            <a:r>
              <a:rPr lang="ko-KR" altLang="en-US" dirty="0"/>
              <a:t>전유나</a:t>
            </a:r>
            <a:r>
              <a:rPr lang="en-US" altLang="ko-KR" dirty="0"/>
              <a:t>, </a:t>
            </a:r>
            <a:r>
              <a:rPr lang="ko-KR" altLang="en-US" dirty="0"/>
              <a:t>안나영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5177502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8399950_TF89213316_Win32_OJ108761954" id="{2C949246-E701-4358-AE1D-5E981A9339C9}" vid="{1C9D17EB-7AF8-47B4-A0BF-F0125A4D3E6D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927DC71-2909-427C-BDB0-3E47E210151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DF0A252-5923-47A2-A53A-F9BF7290891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90D7697-8E53-4EA8-8CBB-9C19575257BF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AccentBox 프레젠테이션</Template>
  <TotalTime>170</TotalTime>
  <Words>835</Words>
  <Application>Microsoft Office PowerPoint</Application>
  <PresentationFormat>와이드스크린</PresentationFormat>
  <Paragraphs>133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7" baseType="lpstr">
      <vt:lpstr>Anthropic Sans</vt:lpstr>
      <vt:lpstr>Pretendard</vt:lpstr>
      <vt:lpstr>맑은 고딕</vt:lpstr>
      <vt:lpstr>Arial</vt:lpstr>
      <vt:lpstr>Calibri</vt:lpstr>
      <vt:lpstr>Consolas</vt:lpstr>
      <vt:lpstr>Wingdings</vt:lpstr>
      <vt:lpstr>AccentBoxVTI</vt:lpstr>
      <vt:lpstr>문제 4. 연령대별로 선호하는               영화 장르가 다를까?</vt:lpstr>
      <vt:lpstr>문제 4. 독립성검정 실습</vt:lpstr>
      <vt:lpstr>관측 데이터 생성</vt:lpstr>
      <vt:lpstr>Q1, Q2: 가설설정 &amp; 기대빈도 구하기</vt:lpstr>
      <vt:lpstr>Q3, Q4: 연령대와 선호 장르가 독립이라면" 어떤 분할표들이 나타날 수 있는지 5,000번 시뮬레이션해보고 히스토그램으로 그려보기</vt:lpstr>
      <vt:lpstr>🧠 데이터를 어떻게 읽을까요? </vt:lpstr>
      <vt:lpstr>PowerPoint 프레젠테이션</vt:lpstr>
      <vt:lpstr>PowerPoint 프레젠테이션</vt:lpstr>
      <vt:lpstr>감사합니다.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AccentBox(강조 상자)</dc:title>
  <dc:creator>표스츄리</dc:creator>
  <cp:lastModifiedBy>msjeonc@naver.com</cp:lastModifiedBy>
  <cp:revision>65</cp:revision>
  <dcterms:created xsi:type="dcterms:W3CDTF">2026-07-27T05:32:26Z</dcterms:created>
  <dcterms:modified xsi:type="dcterms:W3CDTF">2026-07-28T07:35:03Z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