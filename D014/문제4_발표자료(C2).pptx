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4"/>
  </p:notesMasterIdLst>
  <p:handoutMasterIdLst>
    <p:handoutMasterId r:id="rId15"/>
  </p:handoutMasterIdLst>
  <p:sldIdLst>
    <p:sldId id="281" r:id="rId5"/>
    <p:sldId id="355" r:id="rId6"/>
    <p:sldId id="283" r:id="rId7"/>
    <p:sldId id="351" r:id="rId8"/>
    <p:sldId id="362" r:id="rId9"/>
    <p:sldId id="369" r:id="rId10"/>
    <p:sldId id="373" r:id="rId11"/>
    <p:sldId id="372" r:id="rId12"/>
    <p:sldId id="365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883" y="21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5E9C40-2B55-43AB-8539-C48809F2FC17}" type="datetime1">
              <a:rPr lang="en-US" altLang="ko-KR" smtClean="0">
                <a:latin typeface="+mj-ea"/>
                <a:ea typeface="+mj-ea"/>
              </a:rPr>
              <a:t>7/28/2026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8D25597-25DC-4569-9D2F-FB5CC7243947}" type="datetime1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BCFAAAB6-A2C6-4A85-A3A1-98EFBA61C967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331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603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569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84551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4192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C869-6F7B-1906-CE19-7FD84514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0F49E1-DF4E-1A49-576B-413D7D206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84566-933B-CAB6-BBAC-92D147009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9EC12-6B21-EA4C-5642-58132F720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41821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68EA-5135-0E02-E65F-5E749579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767EE-C220-79E0-8796-C4244B72F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87BD2-3DB5-7494-0B5B-2E70E4A0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5FA1C-73D2-458E-2B84-6074B9C61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29866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2650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직사각형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그림 개체 틀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33" name="그림 개체 틀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텍스트 개체 틀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8" name="텍스트 개체 틀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9" name="텍스트 개체 틀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0" name="텍스트 개체 틀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1" name="텍스트 개체 틀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 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텍스트 개체 틀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텍스트 개체 틀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4" name="그림 개체 틀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5" name="그림 개체 틀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스타일을 편집하려면 클릭하세요.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570904"/>
            <a:ext cx="8586216" cy="2176272"/>
          </a:xfrm>
        </p:spPr>
        <p:txBody>
          <a:bodyPr rtlCol="0">
            <a:normAutofit fontScale="90000"/>
          </a:bodyPr>
          <a:lstStyle/>
          <a:p>
            <a:pPr algn="l" latinLnBrk="0">
              <a:lnSpc>
                <a:spcPct val="100000"/>
              </a:lnSpc>
            </a:pPr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문제 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4. </a:t>
            </a:r>
            <a:r>
              <a:rPr lang="ko-KR" altLang="en-US" sz="5400" i="0" dirty="0">
                <a:solidFill>
                  <a:srgbClr val="1A1918"/>
                </a:solidFill>
                <a:effectLst/>
                <a:latin typeface="Pretendard"/>
              </a:rPr>
              <a:t>연령대별로 선호하는</a:t>
            </a:r>
            <a:br>
              <a:rPr lang="en-US" altLang="ko-KR" sz="5400" i="0" dirty="0">
                <a:solidFill>
                  <a:srgbClr val="1A1918"/>
                </a:solidFill>
                <a:effectLst/>
                <a:latin typeface="Pretendard"/>
              </a:rPr>
            </a:br>
            <a:r>
              <a:rPr lang="en-US" altLang="ko-KR" sz="5400" i="0" dirty="0">
                <a:solidFill>
                  <a:srgbClr val="1A1918"/>
                </a:solidFill>
                <a:effectLst/>
                <a:latin typeface="Pretendard"/>
              </a:rPr>
              <a:t>             </a:t>
            </a:r>
            <a:r>
              <a:rPr lang="ko-KR" altLang="en-US" sz="5400" i="0" dirty="0">
                <a:solidFill>
                  <a:srgbClr val="1A1918"/>
                </a:solidFill>
                <a:effectLst/>
                <a:latin typeface="Pretendard"/>
              </a:rPr>
              <a:t> 영화 장르가 다를까</a:t>
            </a:r>
            <a:r>
              <a:rPr lang="en-US" altLang="ko-KR" sz="5400" i="0" dirty="0">
                <a:solidFill>
                  <a:srgbClr val="1A1918"/>
                </a:solidFill>
                <a:effectLst/>
                <a:latin typeface="Pretendard"/>
              </a:rPr>
              <a:t>?</a:t>
            </a:r>
            <a:endParaRPr lang="ko-KR" altLang="en-US" sz="5400" i="0" dirty="0">
              <a:solidFill>
                <a:srgbClr val="1A1918"/>
              </a:solidFill>
              <a:effectLst/>
              <a:latin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2596" y="4850892"/>
            <a:ext cx="7223760" cy="685800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(</a:t>
            </a:r>
            <a:r>
              <a:rPr lang="ko-KR" altLang="en-US" dirty="0"/>
              <a:t>발표</a:t>
            </a:r>
            <a:r>
              <a:rPr lang="en-US" altLang="ko-KR" dirty="0"/>
              <a:t>),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(</a:t>
            </a:r>
            <a:r>
              <a:rPr lang="ko-KR" altLang="en-US" dirty="0" err="1"/>
              <a:t>피피티</a:t>
            </a:r>
            <a:r>
              <a:rPr lang="en-US" altLang="ko-KR" dirty="0"/>
              <a:t>), </a:t>
            </a:r>
            <a:r>
              <a:rPr lang="ko-KR" altLang="en-US" dirty="0"/>
              <a:t>안나영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0914292-E1E1-B559-47DC-044705F03DCB}"/>
              </a:ext>
            </a:extLst>
          </p:cNvPr>
          <p:cNvSpPr txBox="1">
            <a:spLocks/>
          </p:cNvSpPr>
          <p:nvPr/>
        </p:nvSpPr>
        <p:spPr>
          <a:xfrm>
            <a:off x="1726723" y="3499959"/>
            <a:ext cx="8586216" cy="771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목표</a:t>
            </a:r>
            <a:r>
              <a:rPr lang="en-US" altLang="ko-KR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“</a:t>
            </a:r>
            <a:r>
              <a:rPr lang="ko-KR" altLang="ko-KR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카이제곱</a:t>
            </a: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독립성 검정(</a:t>
            </a:r>
            <a:r>
              <a:rPr lang="ko-KR" altLang="ko-KR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Chi-squared</a:t>
            </a: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Test</a:t>
            </a: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of </a:t>
            </a:r>
            <a:r>
              <a:rPr lang="ko-KR" altLang="ko-KR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Independence</a:t>
            </a: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  <a:r>
              <a:rPr lang="en-US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”</a:t>
            </a: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으로</a:t>
            </a:r>
          </a:p>
          <a:p>
            <a:pPr>
              <a:lnSpc>
                <a:spcPct val="130000"/>
              </a:lnSpc>
            </a:pPr>
            <a:r>
              <a:rPr lang="ko-KR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  두 범주형 변수 사이에 연관성이 있는지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293596"/>
            <a:ext cx="6272784" cy="1536192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sz="4000" dirty="0"/>
              <a:t>4</a:t>
            </a: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독립성검정 실습</a:t>
            </a:r>
          </a:p>
        </p:txBody>
      </p:sp>
      <p:pic>
        <p:nvPicPr>
          <p:cNvPr id="11" name="그림 개체 틀 10" descr="팀 작업 손 제스처">
            <a:extLst>
              <a:ext uri="{FF2B5EF4-FFF2-40B4-BE49-F238E27FC236}">
                <a16:creationId xmlns:a16="http://schemas.microsoft.com/office/drawing/2014/main" id="{41749033-B92E-4E63-82DE-801849DA2B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" r="16"/>
          <a:stretch/>
        </p:blipFill>
        <p:spPr/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096" y="3180321"/>
            <a:ext cx="6365344" cy="2825496"/>
          </a:xfrm>
        </p:spPr>
        <p:txBody>
          <a:bodyPr rtlCol="0">
            <a:normAutofit fontScale="92500" lnSpcReduction="20000"/>
          </a:bodyPr>
          <a:lstStyle/>
          <a:p>
            <a:r>
              <a:rPr lang="en-US" altLang="ko-KR" sz="1600" b="1" dirty="0"/>
              <a:t>Q1:</a:t>
            </a:r>
            <a:r>
              <a:rPr lang="en-US" altLang="ko-KR" sz="1600" dirty="0"/>
              <a:t> </a:t>
            </a:r>
            <a:r>
              <a:rPr lang="ko-KR" altLang="ko-KR" sz="1600" dirty="0"/>
              <a:t>귀무가설(</a:t>
            </a:r>
            <a:r>
              <a:rPr lang="ko-KR" altLang="ko-KR" sz="1600" dirty="0" err="1"/>
              <a:t>H</a:t>
            </a:r>
            <a:r>
              <a:rPr lang="ko-KR" altLang="ko-KR" sz="1600" dirty="0"/>
              <a:t>₀)과 대립가설(</a:t>
            </a:r>
            <a:r>
              <a:rPr lang="ko-KR" altLang="ko-KR" sz="1600" dirty="0" err="1"/>
              <a:t>H</a:t>
            </a:r>
            <a:r>
              <a:rPr lang="ko-KR" altLang="ko-KR" sz="1600" dirty="0"/>
              <a:t>₁)을 세워 봅시다.</a:t>
            </a:r>
            <a:endParaRPr lang="en-US" altLang="ko-KR" sz="1600" dirty="0"/>
          </a:p>
          <a:p>
            <a:endParaRPr lang="en-US" altLang="ko-KR" sz="200" dirty="0"/>
          </a:p>
          <a:p>
            <a:r>
              <a:rPr lang="en-US" altLang="ko-KR" sz="1600" b="1" dirty="0"/>
              <a:t>Q2:</a:t>
            </a:r>
            <a:r>
              <a:rPr lang="en-US" altLang="ko-KR" sz="1600" dirty="0"/>
              <a:t> </a:t>
            </a:r>
            <a:r>
              <a:rPr lang="ko-KR" altLang="ko-KR" sz="1600" dirty="0" err="1"/>
              <a:t>카이제곱</a:t>
            </a:r>
            <a:r>
              <a:rPr lang="ko-KR" altLang="ko-KR" sz="1600" dirty="0"/>
              <a:t> 독립성 검정을 수행하여 </a:t>
            </a:r>
            <a:r>
              <a:rPr lang="ko-KR" altLang="ko-KR" sz="1600" dirty="0" err="1"/>
              <a:t>카이제곱</a:t>
            </a:r>
            <a:r>
              <a:rPr lang="ko-KR" altLang="ko-KR" sz="1600" dirty="0"/>
              <a:t> 통계량, 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ko-KR" sz="1600" dirty="0" err="1"/>
              <a:t>p</a:t>
            </a:r>
            <a:r>
              <a:rPr lang="en-US" altLang="ko-KR" sz="1600" dirty="0"/>
              <a:t>-value</a:t>
            </a:r>
            <a:r>
              <a:rPr lang="ko-KR" altLang="ko-KR" sz="1600" dirty="0"/>
              <a:t>,</a:t>
            </a:r>
            <a:r>
              <a:rPr lang="en-US" altLang="ko-KR" sz="1600" dirty="0"/>
              <a:t> </a:t>
            </a:r>
            <a:r>
              <a:rPr lang="ko-KR" altLang="ko-KR" sz="1600" dirty="0"/>
              <a:t>자유도, </a:t>
            </a:r>
            <a:r>
              <a:rPr lang="ko-KR" altLang="ko-KR" sz="1600" b="1" dirty="0">
                <a:solidFill>
                  <a:schemeClr val="accent1"/>
                </a:solidFill>
              </a:rPr>
              <a:t>기대 빈도</a:t>
            </a:r>
            <a:r>
              <a:rPr lang="ko-KR" altLang="ko-KR" sz="1600" dirty="0"/>
              <a:t>를 구해봅시다.</a:t>
            </a:r>
            <a:endParaRPr lang="en-US" altLang="ko-KR" sz="1600" dirty="0"/>
          </a:p>
          <a:p>
            <a:endParaRPr lang="en-US" altLang="ko-KR" sz="200" dirty="0"/>
          </a:p>
          <a:p>
            <a:r>
              <a:rPr lang="en-US" altLang="ko-KR" sz="1600" b="1" dirty="0"/>
              <a:t>Q3:</a:t>
            </a:r>
            <a:r>
              <a:rPr lang="en-US" altLang="ko-KR" sz="1600" dirty="0"/>
              <a:t> </a:t>
            </a:r>
            <a:r>
              <a:rPr lang="ko-KR" altLang="ko-KR" sz="1600" b="1" dirty="0">
                <a:solidFill>
                  <a:schemeClr val="accent1"/>
                </a:solidFill>
              </a:rPr>
              <a:t>"연령대와 선호 장르가 독립이라면“</a:t>
            </a:r>
            <a:r>
              <a:rPr lang="en-US" altLang="ko-KR" sz="1600" b="1" dirty="0">
                <a:solidFill>
                  <a:schemeClr val="accent1"/>
                </a:solidFill>
              </a:rPr>
              <a:t> </a:t>
            </a:r>
            <a:r>
              <a:rPr lang="ko-KR" altLang="ko-KR" sz="1600" dirty="0"/>
              <a:t>어떤 분할표들이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ko-KR" sz="1600" dirty="0"/>
              <a:t>나타날</a:t>
            </a:r>
            <a:r>
              <a:rPr lang="en-US" altLang="ko-KR" sz="1600" dirty="0"/>
              <a:t> </a:t>
            </a:r>
            <a:r>
              <a:rPr lang="ko-KR" altLang="en-US" sz="1600" dirty="0"/>
              <a:t>수</a:t>
            </a:r>
            <a:r>
              <a:rPr lang="en-US" altLang="ko-KR" sz="1600" dirty="0"/>
              <a:t> </a:t>
            </a:r>
            <a:r>
              <a:rPr lang="ko-KR" altLang="ko-KR" sz="1600" dirty="0"/>
              <a:t>있는지 5,000번 시뮬레이션해 봅시다.</a:t>
            </a:r>
            <a:endParaRPr lang="en-US" altLang="ko-KR" sz="1600" dirty="0"/>
          </a:p>
          <a:p>
            <a:endParaRPr lang="ko-KR" altLang="ko-KR" sz="200" dirty="0"/>
          </a:p>
          <a:p>
            <a:pPr marL="0" indent="0"/>
            <a:r>
              <a:rPr lang="en-US" altLang="ko-KR" sz="1500" b="1" dirty="0"/>
              <a:t>Q4:</a:t>
            </a:r>
            <a:r>
              <a:rPr lang="en-US" altLang="ko-KR" sz="1500" dirty="0"/>
              <a:t> </a:t>
            </a:r>
            <a:r>
              <a:rPr lang="ko-KR" altLang="ko-KR" sz="1500" dirty="0"/>
              <a:t>시뮬레이션으로 얻은 </a:t>
            </a:r>
            <a:r>
              <a:rPr lang="ko-KR" altLang="ko-KR" sz="1500" dirty="0" err="1"/>
              <a:t>카이제곱</a:t>
            </a:r>
            <a:r>
              <a:rPr lang="ko-KR" altLang="ko-KR" sz="1500" dirty="0"/>
              <a:t> 통계량 분포와 실제 관찰된</a:t>
            </a:r>
            <a:endParaRPr lang="en-US" altLang="ko-KR" sz="1500" dirty="0"/>
          </a:p>
          <a:p>
            <a:pPr marL="0" indent="0"/>
            <a:r>
              <a:rPr lang="en-US" altLang="ko-KR" sz="1500" dirty="0"/>
              <a:t>      </a:t>
            </a:r>
            <a:r>
              <a:rPr lang="ko-KR" altLang="ko-KR" sz="1500" dirty="0" err="1"/>
              <a:t>카이제곱</a:t>
            </a:r>
            <a:r>
              <a:rPr lang="ko-KR" altLang="ko-KR" sz="1500" dirty="0"/>
              <a:t> 통계량을 비교해 봅시다.</a:t>
            </a:r>
          </a:p>
          <a:p>
            <a:pPr marL="0" indent="0"/>
            <a:endParaRPr lang="ko-KR" altLang="en-US" sz="1600" dirty="0"/>
          </a:p>
          <a:p>
            <a:pPr marL="0" indent="0" rtl="0">
              <a:lnSpc>
                <a:spcPct val="110000"/>
              </a:lnSpc>
              <a:buNone/>
            </a:pPr>
            <a:endParaRPr lang="ko-KR" altLang="en-US" sz="16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독립성검정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관측 데이터 생성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65C8300-CD8E-4F35-9B79-C5DE7AD9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독립성검정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EDC270-87EA-5055-9CCF-6D03ECB9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90" y="2360930"/>
            <a:ext cx="5605710" cy="385699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BF2127-F825-A0CA-B0EE-5DC324A9D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10036"/>
              </p:ext>
            </p:extLst>
          </p:nvPr>
        </p:nvGraphicFramePr>
        <p:xfrm>
          <a:off x="6641085" y="2687320"/>
          <a:ext cx="46426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063">
                  <a:extLst>
                    <a:ext uri="{9D8B030D-6E8A-4147-A177-3AD203B41FA5}">
                      <a16:colId xmlns:a16="http://schemas.microsoft.com/office/drawing/2014/main" val="2412194708"/>
                    </a:ext>
                  </a:extLst>
                </a:gridCol>
                <a:gridCol w="1813795">
                  <a:extLst>
                    <a:ext uri="{9D8B030D-6E8A-4147-A177-3AD203B41FA5}">
                      <a16:colId xmlns:a16="http://schemas.microsoft.com/office/drawing/2014/main" val="628865676"/>
                    </a:ext>
                  </a:extLst>
                </a:gridCol>
                <a:gridCol w="1943753">
                  <a:extLst>
                    <a:ext uri="{9D8B030D-6E8A-4147-A177-3AD203B41FA5}">
                      <a16:colId xmlns:a16="http://schemas.microsoft.com/office/drawing/2014/main" val="432222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/>
                        <a:t>액션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/>
                        <a:t>로맨스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1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20</a:t>
                      </a:r>
                      <a:r>
                        <a:rPr lang="ko-KR" altLang="en-US" sz="1700" dirty="0"/>
                        <a:t>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70</a:t>
                      </a:r>
                      <a:endParaRPr lang="ko-KR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30</a:t>
                      </a:r>
                      <a:endParaRPr lang="ko-KR" alt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714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30</a:t>
                      </a:r>
                      <a:r>
                        <a:rPr lang="ko-KR" altLang="en-US" sz="1700" dirty="0"/>
                        <a:t>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50</a:t>
                      </a:r>
                      <a:endParaRPr lang="ko-KR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60</a:t>
                      </a:r>
                      <a:endParaRPr lang="ko-KR" alt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67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40</a:t>
                      </a:r>
                      <a:r>
                        <a:rPr lang="ko-KR" altLang="en-US" sz="1700" dirty="0"/>
                        <a:t>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30</a:t>
                      </a:r>
                      <a:endParaRPr lang="ko-KR" alt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/>
                        <a:t>60</a:t>
                      </a:r>
                      <a:endParaRPr lang="ko-KR" alt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95856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5F45C32B-2578-37ED-7275-303F49852B03}"/>
              </a:ext>
            </a:extLst>
          </p:cNvPr>
          <p:cNvSpPr txBox="1">
            <a:spLocks/>
          </p:cNvSpPr>
          <p:nvPr/>
        </p:nvSpPr>
        <p:spPr>
          <a:xfrm>
            <a:off x="6641084" y="4432787"/>
            <a:ext cx="4642611" cy="1393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sz="2000" b="1" dirty="0">
                <a:sym typeface="Wingdings" panose="05000000000000000000" pitchFamily="2" charset="2"/>
              </a:rPr>
              <a:t>두 변수</a:t>
            </a:r>
            <a:r>
              <a:rPr lang="en-US" altLang="ko-KR" sz="2000" b="1" dirty="0">
                <a:sym typeface="Wingdings" panose="05000000000000000000" pitchFamily="2" charset="2"/>
              </a:rPr>
              <a:t>(</a:t>
            </a:r>
            <a:r>
              <a:rPr lang="ko-KR" altLang="en-US" sz="2000" b="1" dirty="0">
                <a:sym typeface="Wingdings" panose="05000000000000000000" pitchFamily="2" charset="2"/>
              </a:rPr>
              <a:t>연령대 </a:t>
            </a:r>
            <a:r>
              <a:rPr lang="en-US" altLang="ko-KR" sz="2000" b="1" dirty="0">
                <a:sym typeface="Wingdings" panose="05000000000000000000" pitchFamily="2" charset="2"/>
              </a:rPr>
              <a:t>&amp; </a:t>
            </a:r>
            <a:r>
              <a:rPr lang="ko-KR" altLang="en-US" sz="2000" b="1" dirty="0">
                <a:sym typeface="Wingdings" panose="05000000000000000000" pitchFamily="2" charset="2"/>
              </a:rPr>
              <a:t>영화 장르</a:t>
            </a:r>
            <a:r>
              <a:rPr lang="en-US" altLang="ko-KR" sz="2000" b="1" dirty="0">
                <a:sym typeface="Wingdings" panose="05000000000000000000" pitchFamily="2" charset="2"/>
              </a:rPr>
              <a:t>) </a:t>
            </a:r>
            <a:r>
              <a:rPr lang="ko-KR" altLang="en-US" sz="2000" b="1" dirty="0">
                <a:sym typeface="Wingdings" panose="05000000000000000000" pitchFamily="2" charset="2"/>
              </a:rPr>
              <a:t>사이에 연관성이 있는지를 분석해보고 싶음</a:t>
            </a:r>
            <a:endParaRPr lang="en-US" altLang="ko-KR" sz="2000" b="1" dirty="0">
              <a:sym typeface="Wingdings" panose="05000000000000000000" pitchFamily="2" charset="2"/>
            </a:endParaRPr>
          </a:p>
          <a:p>
            <a:endParaRPr lang="en-US" altLang="ko-KR" sz="1000" b="1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ko-KR" altLang="en-US" sz="2000" dirty="0" err="1"/>
              <a:t>카이제곱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독립성</a:t>
            </a:r>
            <a:r>
              <a:rPr lang="en-US" altLang="ko-KR" sz="2000" dirty="0"/>
              <a:t>) </a:t>
            </a:r>
            <a:r>
              <a:rPr lang="ko-KR" altLang="en-US" sz="2000" dirty="0"/>
              <a:t>검정 실행</a:t>
            </a:r>
            <a:endParaRPr lang="ko-KR" altLang="ko-KR" sz="2000" dirty="0"/>
          </a:p>
        </p:txBody>
      </p:sp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28" y="546576"/>
            <a:ext cx="10168128" cy="1179576"/>
          </a:xfrm>
        </p:spPr>
        <p:txBody>
          <a:bodyPr rtlCol="0">
            <a:normAutofit/>
          </a:bodyPr>
          <a:lstStyle/>
          <a:p>
            <a:r>
              <a:rPr lang="en-US" altLang="ko-KR" sz="3500" dirty="0"/>
              <a:t>Q1, Q2: </a:t>
            </a:r>
            <a:r>
              <a:rPr lang="ko-KR" altLang="en-US" sz="3500" dirty="0"/>
              <a:t>가설설정 </a:t>
            </a:r>
            <a:r>
              <a:rPr lang="en-US" altLang="ko-KR" sz="3500" dirty="0"/>
              <a:t>&amp; </a:t>
            </a:r>
            <a:r>
              <a:rPr lang="ko-KR" altLang="en-US" sz="3500" dirty="0"/>
              <a:t>기대빈도 구하기</a:t>
            </a:r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4124F-DFC1-729F-4936-BC855084F033}"/>
              </a:ext>
            </a:extLst>
          </p:cNvPr>
          <p:cNvSpPr txBox="1"/>
          <p:nvPr/>
        </p:nvSpPr>
        <p:spPr>
          <a:xfrm>
            <a:off x="545616" y="2139507"/>
            <a:ext cx="71894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5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ko-KR" altLang="ko-KR" sz="145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ko-KR" altLang="ko-KR" sz="145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₀ (귀무가설): 연령대와 선호 장르는 서로 독립이다 (관련이 없다).</a:t>
            </a:r>
          </a:p>
          <a:p>
            <a:pPr>
              <a:buNone/>
            </a:pPr>
            <a:r>
              <a:rPr lang="en-US" altLang="ko-KR" sz="145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ko-KR" altLang="ko-KR" sz="145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ko-KR" altLang="ko-KR" sz="145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₁ (대립가설): 연령대와 선호 장르는 서로 독립이 아니다 (관련이 있다).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357F6D-81F0-E7CD-BE3E-50915B479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58236"/>
              </p:ext>
            </p:extLst>
          </p:nvPr>
        </p:nvGraphicFramePr>
        <p:xfrm>
          <a:off x="8062328" y="3017067"/>
          <a:ext cx="3563618" cy="122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365">
                  <a:extLst>
                    <a:ext uri="{9D8B030D-6E8A-4147-A177-3AD203B41FA5}">
                      <a16:colId xmlns:a16="http://schemas.microsoft.com/office/drawing/2014/main" val="2412194708"/>
                    </a:ext>
                  </a:extLst>
                </a:gridCol>
                <a:gridCol w="1393174">
                  <a:extLst>
                    <a:ext uri="{9D8B030D-6E8A-4147-A177-3AD203B41FA5}">
                      <a16:colId xmlns:a16="http://schemas.microsoft.com/office/drawing/2014/main" val="628865676"/>
                    </a:ext>
                  </a:extLst>
                </a:gridCol>
                <a:gridCol w="1491079">
                  <a:extLst>
                    <a:ext uri="{9D8B030D-6E8A-4147-A177-3AD203B41FA5}">
                      <a16:colId xmlns:a16="http://schemas.microsoft.com/office/drawing/2014/main" val="432222477"/>
                    </a:ext>
                  </a:extLst>
                </a:gridCol>
              </a:tblGrid>
              <a:tr h="302783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액션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로맨스</a:t>
                      </a:r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77471575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70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3535714657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60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121667676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60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203369585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41D31F6-D4E7-2909-0FE7-ADBF49EF2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713726"/>
              </p:ext>
            </p:extLst>
          </p:nvPr>
        </p:nvGraphicFramePr>
        <p:xfrm>
          <a:off x="8062327" y="4431173"/>
          <a:ext cx="3563619" cy="122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365">
                  <a:extLst>
                    <a:ext uri="{9D8B030D-6E8A-4147-A177-3AD203B41FA5}">
                      <a16:colId xmlns:a16="http://schemas.microsoft.com/office/drawing/2014/main" val="2412194708"/>
                    </a:ext>
                  </a:extLst>
                </a:gridCol>
                <a:gridCol w="1385088">
                  <a:extLst>
                    <a:ext uri="{9D8B030D-6E8A-4147-A177-3AD203B41FA5}">
                      <a16:colId xmlns:a16="http://schemas.microsoft.com/office/drawing/2014/main" val="628865676"/>
                    </a:ext>
                  </a:extLst>
                </a:gridCol>
                <a:gridCol w="1499166">
                  <a:extLst>
                    <a:ext uri="{9D8B030D-6E8A-4147-A177-3AD203B41FA5}">
                      <a16:colId xmlns:a16="http://schemas.microsoft.com/office/drawing/2014/main" val="432222477"/>
                    </a:ext>
                  </a:extLst>
                </a:gridCol>
              </a:tblGrid>
              <a:tr h="302783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액션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로맨스</a:t>
                      </a:r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77471575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3535714657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121667676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203369585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0B330E4-57FA-8D7D-3E4D-3B792EACC843}"/>
              </a:ext>
            </a:extLst>
          </p:cNvPr>
          <p:cNvSpPr txBox="1"/>
          <p:nvPr/>
        </p:nvSpPr>
        <p:spPr>
          <a:xfrm>
            <a:off x="6667211" y="5868050"/>
            <a:ext cx="5416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200" b="0" i="0" dirty="0" err="1">
                <a:effectLst/>
                <a:latin typeface="Consolas" panose="020B0609020204030204" pitchFamily="49" charset="0"/>
              </a:rPr>
              <a:t>카이제곱</a:t>
            </a:r>
            <a:r>
              <a:rPr lang="ko-KR" altLang="ko-KR" sz="1200" b="0" i="0" dirty="0">
                <a:effectLst/>
                <a:latin typeface="Consolas" panose="020B0609020204030204" pitchFamily="49" charset="0"/>
              </a:rPr>
              <a:t> 통계량: 26.9091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b="0" i="0" dirty="0">
                <a:effectLst/>
                <a:latin typeface="Consolas" panose="020B0609020204030204" pitchFamily="49" charset="0"/>
              </a:rPr>
              <a:t>/ </a:t>
            </a:r>
            <a:r>
              <a:rPr lang="ko-KR" altLang="ko-KR" sz="1200" b="0" i="0" dirty="0">
                <a:effectLst/>
                <a:latin typeface="Consolas" panose="020B0609020204030204" pitchFamily="49" charset="0"/>
              </a:rPr>
              <a:t>자유도: 2</a:t>
            </a:r>
            <a:r>
              <a:rPr lang="en-US" altLang="ko-KR" sz="1200" b="0" i="0" dirty="0">
                <a:effectLst/>
                <a:latin typeface="Consolas" panose="020B0609020204030204" pitchFamily="49" charset="0"/>
              </a:rPr>
              <a:t> / </a:t>
            </a:r>
            <a:r>
              <a:rPr lang="ko-KR" altLang="ko-KR" sz="1200" b="0" i="0" dirty="0" err="1">
                <a:effectLst/>
                <a:latin typeface="Consolas" panose="020B0609020204030204" pitchFamily="49" charset="0"/>
              </a:rPr>
              <a:t>p-value</a:t>
            </a:r>
            <a:r>
              <a:rPr lang="ko-KR" altLang="ko-KR" sz="1200" b="0" i="0" dirty="0">
                <a:effectLst/>
                <a:latin typeface="Consolas" panose="020B0609020204030204" pitchFamily="49" charset="0"/>
              </a:rPr>
              <a:t>: 0.00000143</a:t>
            </a:r>
            <a:r>
              <a:rPr lang="en-US" altLang="ko-KR" sz="1200" b="0" i="0" dirty="0">
                <a:effectLst/>
                <a:latin typeface="Consolas" panose="020B0609020204030204" pitchFamily="49" charset="0"/>
              </a:rPr>
              <a:t>)</a:t>
            </a:r>
            <a:endParaRPr lang="ko-KR" alt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3390079-3A1C-8163-64DF-8B3D01DEA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16" y="2752883"/>
            <a:ext cx="5985750" cy="3518895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5AFC1E01-F4D3-80D1-5795-731C53C5AB18}"/>
              </a:ext>
            </a:extLst>
          </p:cNvPr>
          <p:cNvSpPr txBox="1">
            <a:spLocks/>
          </p:cNvSpPr>
          <p:nvPr/>
        </p:nvSpPr>
        <p:spPr>
          <a:xfrm>
            <a:off x="6561966" y="3394606"/>
            <a:ext cx="1469761" cy="55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관측빈도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3395ECAB-4F9A-39DE-3D09-572372A5CAE9}"/>
              </a:ext>
            </a:extLst>
          </p:cNvPr>
          <p:cNvSpPr txBox="1">
            <a:spLocks/>
          </p:cNvSpPr>
          <p:nvPr/>
        </p:nvSpPr>
        <p:spPr>
          <a:xfrm>
            <a:off x="6592566" y="4822491"/>
            <a:ext cx="1469761" cy="55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기대빈도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</a:t>
            </a:r>
            <a:endParaRPr lang="ko-KR" alt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589280"/>
            <a:ext cx="10314432" cy="1179576"/>
          </a:xfrm>
        </p:spPr>
        <p:txBody>
          <a:bodyPr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2400" dirty="0"/>
              <a:t>Q3. </a:t>
            </a:r>
            <a:r>
              <a:rPr lang="ko-KR" altLang="ko-KR" sz="2400" dirty="0"/>
              <a:t>연령대와 선호 장르가 독립이라면" 어떤 분할표들이 나타날 수 있는지 5,000번 시뮬레이션해</a:t>
            </a:r>
            <a:r>
              <a:rPr lang="ko-KR" altLang="en-US" sz="2400" dirty="0"/>
              <a:t>보고 히스토그램으로 그려보기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A54C40-C66F-CDC4-C3C7-7335241B9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27" y="2236024"/>
            <a:ext cx="5555133" cy="43233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17AC7F-C2B3-20A2-1579-364A6ADE3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592" y="2628369"/>
            <a:ext cx="5775649" cy="372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4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972" y="763099"/>
            <a:ext cx="10168128" cy="1179576"/>
          </a:xfrm>
        </p:spPr>
        <p:txBody>
          <a:bodyPr rtlCol="0">
            <a:normAutofit/>
          </a:bodyPr>
          <a:lstStyle/>
          <a:p>
            <a:r>
              <a:rPr lang="ko-KR" altLang="en-US" sz="2700" dirty="0"/>
              <a:t>🧠 데이터를 어떻게 읽을까요</a:t>
            </a:r>
            <a:r>
              <a:rPr lang="en-US" altLang="ko-KR" sz="2700" dirty="0"/>
              <a:t>?</a:t>
            </a:r>
            <a:br>
              <a:rPr lang="en-US" altLang="ko-KR" sz="2700" dirty="0"/>
            </a:br>
            <a:endParaRPr lang="ko-KR" altLang="en-US" sz="2700" dirty="0"/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25119-0732-41D5-AB74-44B1C1A56A7C}"/>
              </a:ext>
            </a:extLst>
          </p:cNvPr>
          <p:cNvSpPr txBox="1"/>
          <p:nvPr/>
        </p:nvSpPr>
        <p:spPr>
          <a:xfrm>
            <a:off x="499499" y="2351145"/>
            <a:ext cx="1105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Q1: </a:t>
            </a:r>
            <a:r>
              <a:rPr lang="ko-KR" altLang="ko-KR" b="1" dirty="0"/>
              <a:t>'기대 </a:t>
            </a:r>
            <a:r>
              <a:rPr lang="ko-KR" altLang="ko-KR" b="1" dirty="0" err="1"/>
              <a:t>빈도'는</a:t>
            </a:r>
            <a:r>
              <a:rPr lang="ko-KR" altLang="ko-KR" b="1" dirty="0"/>
              <a:t> 어떤 의미를 가지며, '관측 </a:t>
            </a:r>
            <a:r>
              <a:rPr lang="ko-KR" altLang="ko-KR" b="1" dirty="0" err="1"/>
              <a:t>빈도'와의</a:t>
            </a:r>
            <a:r>
              <a:rPr lang="ko-KR" altLang="ko-KR" b="1" dirty="0"/>
              <a:t> 차이가 클수록 </a:t>
            </a:r>
            <a:r>
              <a:rPr lang="ko-KR" altLang="ko-KR" b="1" dirty="0" err="1"/>
              <a:t>카이제곱</a:t>
            </a:r>
            <a:r>
              <a:rPr lang="ko-KR" altLang="ko-KR" b="1" dirty="0"/>
              <a:t> 통계량은 어떻게 변할까요?</a:t>
            </a:r>
          </a:p>
          <a:p>
            <a:endParaRPr lang="en-US" altLang="ko-KR" b="1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BAEDE44-EBF1-9224-4557-E5D5852EC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02427"/>
              </p:ext>
            </p:extLst>
          </p:nvPr>
        </p:nvGraphicFramePr>
        <p:xfrm>
          <a:off x="998883" y="3948602"/>
          <a:ext cx="3563619" cy="122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365">
                  <a:extLst>
                    <a:ext uri="{9D8B030D-6E8A-4147-A177-3AD203B41FA5}">
                      <a16:colId xmlns:a16="http://schemas.microsoft.com/office/drawing/2014/main" val="2412194708"/>
                    </a:ext>
                  </a:extLst>
                </a:gridCol>
                <a:gridCol w="1385088">
                  <a:extLst>
                    <a:ext uri="{9D8B030D-6E8A-4147-A177-3AD203B41FA5}">
                      <a16:colId xmlns:a16="http://schemas.microsoft.com/office/drawing/2014/main" val="628865676"/>
                    </a:ext>
                  </a:extLst>
                </a:gridCol>
                <a:gridCol w="1499166">
                  <a:extLst>
                    <a:ext uri="{9D8B030D-6E8A-4147-A177-3AD203B41FA5}">
                      <a16:colId xmlns:a16="http://schemas.microsoft.com/office/drawing/2014/main" val="432222477"/>
                    </a:ext>
                  </a:extLst>
                </a:gridCol>
              </a:tblGrid>
              <a:tr h="302783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액션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로맨스</a:t>
                      </a:r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77471575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50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3535714657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1216676769"/>
                  </a:ext>
                </a:extLst>
              </a:tr>
              <a:tr h="302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40</a:t>
                      </a:r>
                      <a:r>
                        <a:rPr lang="ko-KR" altLang="en-US" sz="1500" dirty="0"/>
                        <a:t>대</a:t>
                      </a:r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45</a:t>
                      </a:r>
                      <a:endParaRPr lang="ko-KR" altLang="en-US" sz="1500" dirty="0"/>
                    </a:p>
                  </a:txBody>
                  <a:tcPr marL="77793" marR="77793" marT="38897" marB="38897"/>
                </a:tc>
                <a:extLst>
                  <a:ext uri="{0D108BD9-81ED-4DB2-BD59-A6C34878D82A}">
                    <a16:rowId xmlns:a16="http://schemas.microsoft.com/office/drawing/2014/main" val="2033695856"/>
                  </a:ext>
                </a:extLst>
              </a:tr>
            </a:tbl>
          </a:graphicData>
        </a:graphic>
      </p:graphicFrame>
      <p:sp>
        <p:nvSpPr>
          <p:cNvPr id="15" name="제목 1">
            <a:extLst>
              <a:ext uri="{FF2B5EF4-FFF2-40B4-BE49-F238E27FC236}">
                <a16:creationId xmlns:a16="http://schemas.microsoft.com/office/drawing/2014/main" id="{C4EBAF0D-569A-F44D-0622-E399B136FF09}"/>
              </a:ext>
            </a:extLst>
          </p:cNvPr>
          <p:cNvSpPr txBox="1">
            <a:spLocks/>
          </p:cNvSpPr>
          <p:nvPr/>
        </p:nvSpPr>
        <p:spPr>
          <a:xfrm>
            <a:off x="1870936" y="3338686"/>
            <a:ext cx="1819511" cy="55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1800" dirty="0"/>
              <a:t>&lt;</a:t>
            </a:r>
            <a:r>
              <a:rPr lang="ko-KR" altLang="en-US" sz="1800" dirty="0"/>
              <a:t>기대빈도 표</a:t>
            </a:r>
            <a:r>
              <a:rPr lang="en-US" altLang="ko-KR" sz="1800" dirty="0"/>
              <a:t>&gt;</a:t>
            </a:r>
            <a:endParaRPr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8864E-3792-6858-9690-572550D8592D}"/>
              </a:ext>
            </a:extLst>
          </p:cNvPr>
          <p:cNvSpPr txBox="1"/>
          <p:nvPr/>
        </p:nvSpPr>
        <p:spPr>
          <a:xfrm>
            <a:off x="4942380" y="3123017"/>
            <a:ext cx="60987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500" b="0" dirty="0">
              <a:effectLst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ko-KR" sz="1500" b="0" dirty="0">
                <a:effectLst/>
              </a:rPr>
              <a:t>기대 빈도는 "만약 연령대와 선호 장르가 정말 서로 독립(아무 관련 없음)이라면, 이론적으로 나와야 할 </a:t>
            </a:r>
            <a:r>
              <a:rPr lang="ko-KR" altLang="ko-KR" sz="1500" b="0" dirty="0" err="1">
                <a:effectLst/>
              </a:rPr>
              <a:t>빈도"를</a:t>
            </a:r>
            <a:r>
              <a:rPr lang="ko-KR" altLang="ko-KR" sz="1500" b="0" dirty="0">
                <a:effectLst/>
              </a:rPr>
              <a:t> 뜻한다. 예를 들어 20대-액션 칸의 기대 빈도(50.0)는, 전체 액션/로맨스 비율과 연령대 비율만 가지고 계산한 "우연히 예상되는 </a:t>
            </a:r>
            <a:r>
              <a:rPr lang="ko-KR" altLang="ko-KR" sz="1500" b="0" dirty="0" err="1">
                <a:effectLst/>
              </a:rPr>
              <a:t>값"이다</a:t>
            </a:r>
            <a:r>
              <a:rPr lang="ko-KR" altLang="ko-KR" sz="1500" b="0" dirty="0">
                <a:effectLst/>
              </a:rPr>
              <a:t>.</a:t>
            </a:r>
            <a:endParaRPr lang="en-US" altLang="ko-KR" sz="1500" b="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5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ko-KR" sz="1500" dirty="0"/>
              <a:t>관측 빈도(실제 데이터)와 기대 빈도(독립 가정 시 </a:t>
            </a:r>
            <a:r>
              <a:rPr lang="ko-KR" altLang="ko-KR" sz="1500" dirty="0" err="1"/>
              <a:t>이론값</a:t>
            </a:r>
            <a:r>
              <a:rPr lang="ko-KR" altLang="ko-KR" sz="1500" dirty="0"/>
              <a:t>)의 차이가 클수록, </a:t>
            </a:r>
            <a:r>
              <a:rPr lang="ko-KR" altLang="ko-KR" sz="1500" dirty="0" err="1"/>
              <a:t>카이제곱</a:t>
            </a:r>
            <a:r>
              <a:rPr lang="ko-KR" altLang="ko-KR" sz="1500" dirty="0"/>
              <a:t> 통계량은 커진다.</a:t>
            </a:r>
            <a:endParaRPr lang="en-US" altLang="ko-KR" sz="1500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5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ko-KR" sz="1500" dirty="0" err="1"/>
              <a:t>카이제곱</a:t>
            </a:r>
            <a:r>
              <a:rPr lang="ko-KR" altLang="ko-KR" sz="1500" dirty="0"/>
              <a:t> 통계량 자체가 </a:t>
            </a:r>
            <a:r>
              <a:rPr lang="en-US" altLang="ko-KR" sz="1500" dirty="0"/>
              <a:t>“</a:t>
            </a:r>
            <a:r>
              <a:rPr lang="ko-KR" altLang="ko-KR" sz="1500" dirty="0"/>
              <a:t>(관측-기대)²/기대 값</a:t>
            </a:r>
            <a:r>
              <a:rPr lang="en-US" altLang="ko-KR" sz="1500" dirty="0"/>
              <a:t>”</a:t>
            </a:r>
            <a:r>
              <a:rPr lang="ko-KR" altLang="ko-KR" sz="1500" dirty="0"/>
              <a:t>들을 모두 더한 것이기 때문에, 두 값의 괴리가 클수록 "독립이라는 가정과 실제 데이터가 안 </a:t>
            </a:r>
            <a:r>
              <a:rPr lang="ko-KR" altLang="ko-KR" sz="1500" dirty="0" err="1"/>
              <a:t>맞는다"는</a:t>
            </a:r>
            <a:r>
              <a:rPr lang="ko-KR" altLang="ko-KR" sz="1500" dirty="0"/>
              <a:t> 신호가 강해지는 것이다.</a:t>
            </a:r>
          </a:p>
          <a:p>
            <a:pPr>
              <a:buNone/>
            </a:pPr>
            <a:endParaRPr lang="ko-KR" altLang="ko-KR" sz="15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9700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D493-BA8A-2160-0507-C3A56D50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CA9B9A07-9D5C-15C7-9CE1-7989B2E6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표본조사 체험하기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8D061934-AB00-DAFA-33A3-BCD60089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08944-80E1-6501-90FB-044581AB0C53}"/>
              </a:ext>
            </a:extLst>
          </p:cNvPr>
          <p:cNvSpPr txBox="1"/>
          <p:nvPr/>
        </p:nvSpPr>
        <p:spPr>
          <a:xfrm>
            <a:off x="566969" y="2287969"/>
            <a:ext cx="1105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Q2: </a:t>
            </a:r>
            <a:r>
              <a:rPr lang="ko-KR" altLang="ko-KR" b="1" dirty="0"/>
              <a:t>Q4의 히스토그램은 어떤 분포를 시각화한 것인가요? 실제 관찰된 </a:t>
            </a:r>
            <a:r>
              <a:rPr lang="ko-KR" altLang="ko-KR" b="1" dirty="0" err="1"/>
              <a:t>카이제곱</a:t>
            </a:r>
            <a:r>
              <a:rPr lang="ko-KR" altLang="ko-KR" b="1" dirty="0"/>
              <a:t> 통계량(세로선)은 흔한 값인가요, 극단적인 값인가요?</a:t>
            </a:r>
          </a:p>
          <a:p>
            <a:endParaRPr lang="en-US" altLang="ko-KR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E0F714-EDCC-2563-97FD-22378AC1D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0" y="3106695"/>
            <a:ext cx="5187696" cy="3348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561A58-15B7-D9D8-E33A-CDA3AC8A9DFA}"/>
              </a:ext>
            </a:extLst>
          </p:cNvPr>
          <p:cNvSpPr txBox="1"/>
          <p:nvPr/>
        </p:nvSpPr>
        <p:spPr>
          <a:xfrm>
            <a:off x="5720403" y="3580604"/>
            <a:ext cx="60987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ko-KR" sz="1500" b="0" dirty="0">
                <a:effectLst/>
              </a:rPr>
              <a:t>이 히스토그램은 "연령대와 선호 장르가 </a:t>
            </a:r>
            <a:r>
              <a:rPr lang="ko-KR" altLang="ko-KR" sz="1500" b="0" dirty="0" err="1">
                <a:effectLst/>
              </a:rPr>
              <a:t>독립이다"라는</a:t>
            </a:r>
            <a:r>
              <a:rPr lang="ko-KR" altLang="ko-KR" sz="1500" b="0" dirty="0">
                <a:effectLst/>
              </a:rPr>
              <a:t> 귀무가설이 참이라고 가정했을 때, 300명을 무작위로 반복 추출하여 나올 수 있는 </a:t>
            </a:r>
            <a:r>
              <a:rPr lang="ko-KR" altLang="ko-KR" sz="1500" b="0" dirty="0" err="1">
                <a:effectLst/>
              </a:rPr>
              <a:t>카이제곱</a:t>
            </a:r>
            <a:r>
              <a:rPr lang="ko-KR" altLang="ko-KR" sz="1500" b="0" dirty="0">
                <a:effectLst/>
              </a:rPr>
              <a:t> 통계량들의 분포(</a:t>
            </a:r>
            <a:r>
              <a:rPr lang="ko-KR" altLang="ko-KR" sz="1500" b="0" dirty="0" err="1">
                <a:effectLst/>
              </a:rPr>
              <a:t>카이제곱</a:t>
            </a:r>
            <a:r>
              <a:rPr lang="ko-KR" altLang="ko-KR" sz="1500" b="0" dirty="0">
                <a:effectLst/>
              </a:rPr>
              <a:t> 분포에 대한 시뮬레이션 근사)를 나타낸다.</a:t>
            </a:r>
            <a:endParaRPr lang="en-US" altLang="ko-KR" sz="1500" b="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500" b="0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ko-KR" sz="1500" dirty="0"/>
              <a:t>실제 관찰된 </a:t>
            </a:r>
            <a:r>
              <a:rPr lang="ko-KR" altLang="ko-KR" sz="1500" dirty="0" err="1"/>
              <a:t>카이제곱</a:t>
            </a:r>
            <a:r>
              <a:rPr lang="ko-KR" altLang="ko-KR" sz="1500" dirty="0"/>
              <a:t> 통계량(26.91)은 매우 극단적인 값이다. 분포 대부분이 0~10 사이에 몰려 있는데, </a:t>
            </a:r>
            <a:r>
              <a:rPr lang="ko-KR" altLang="ko-KR" sz="1500" dirty="0" err="1"/>
              <a:t>관찰값은</a:t>
            </a:r>
            <a:r>
              <a:rPr lang="ko-KR" altLang="ko-KR" sz="1500" dirty="0"/>
              <a:t> 그 범위를 훨씬 벗어난 오른쪽 끝에 위치해 있다. 즉 두 변수가 독립이라면 이런 값이 나오는 건 거의 불가능에 가깝다.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o-KR" altLang="ko-KR" sz="1500" b="0" dirty="0">
              <a:effectLst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4212755-8188-F1A3-9B5B-BE1966E26EEE}"/>
              </a:ext>
            </a:extLst>
          </p:cNvPr>
          <p:cNvSpPr txBox="1">
            <a:spLocks/>
          </p:cNvSpPr>
          <p:nvPr/>
        </p:nvSpPr>
        <p:spPr>
          <a:xfrm>
            <a:off x="872972" y="763099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sz="2700"/>
              <a:t>🧠 데이터를 어떻게 읽을까요</a:t>
            </a:r>
            <a:r>
              <a:rPr lang="en-US" altLang="ko-KR" sz="2700"/>
              <a:t>?</a:t>
            </a:r>
            <a:br>
              <a:rPr lang="en-US" altLang="ko-KR" sz="2700"/>
            </a:b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393141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8B1A-9EEF-C25E-C880-D5BB6B52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FBC51D4E-8DA9-AFF4-F1D4-EACEEA10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93120-638B-CC19-F180-691722FA2DFA}"/>
              </a:ext>
            </a:extLst>
          </p:cNvPr>
          <p:cNvSpPr txBox="1"/>
          <p:nvPr/>
        </p:nvSpPr>
        <p:spPr>
          <a:xfrm>
            <a:off x="518160" y="2109033"/>
            <a:ext cx="110580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50" b="1" dirty="0"/>
              <a:t>Q3: </a:t>
            </a:r>
            <a:r>
              <a:rPr lang="ko-KR" altLang="ko-KR" sz="1650" b="1" dirty="0"/>
              <a:t>유의수준 0.05에서, 연령대와 선호 장르 사이에 통계적으로 유의미한 연관성이 있다고 결론 내릴 수 있나요? 그 이유는 무엇인가요?</a:t>
            </a:r>
            <a:endParaRPr lang="en-US" altLang="ko-KR" sz="1650" b="1" dirty="0"/>
          </a:p>
          <a:p>
            <a:endParaRPr lang="en-US" altLang="ko-KR" sz="1650" dirty="0"/>
          </a:p>
          <a:p>
            <a:r>
              <a:rPr lang="en-US" altLang="ko-KR" sz="1650" b="1" dirty="0"/>
              <a:t>A4: </a:t>
            </a:r>
            <a:r>
              <a:rPr lang="ko-KR" altLang="ko-KR" sz="1500" dirty="0" err="1"/>
              <a:t>p-value</a:t>
            </a:r>
            <a:r>
              <a:rPr lang="ko-KR" altLang="ko-KR" sz="1500" dirty="0"/>
              <a:t>(0.00000143)가 유의수준 0.05보다 훨씬 작기 때문에 귀무가설(독립이다)을 기각한다.</a:t>
            </a:r>
            <a:endParaRPr lang="en-US" altLang="ko-KR" sz="1500" dirty="0"/>
          </a:p>
          <a:p>
            <a:r>
              <a:rPr lang="en-US" altLang="ko-KR" sz="1500" dirty="0"/>
              <a:t>        </a:t>
            </a:r>
            <a:r>
              <a:rPr lang="ko-KR" altLang="ko-KR" sz="1500" dirty="0"/>
              <a:t>즉 연령대와 선호 장르 사이에는 우연이라고 보기 어려운, 통계적으로 유의미한 연관성이 존재한다.</a:t>
            </a:r>
          </a:p>
          <a:p>
            <a:endParaRPr lang="ko-KR" altLang="ko-KR" sz="1650" dirty="0"/>
          </a:p>
          <a:p>
            <a:endParaRPr lang="ko-KR" altLang="ko-KR" sz="1650" dirty="0"/>
          </a:p>
          <a:p>
            <a:endParaRPr lang="en-US" altLang="ko-KR" sz="16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ECDD2-56F4-CEEC-0EA9-C7371F9CF9D8}"/>
              </a:ext>
            </a:extLst>
          </p:cNvPr>
          <p:cNvSpPr txBox="1"/>
          <p:nvPr/>
        </p:nvSpPr>
        <p:spPr>
          <a:xfrm>
            <a:off x="518159" y="3424817"/>
            <a:ext cx="11058061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650" b="1" dirty="0"/>
          </a:p>
          <a:p>
            <a:r>
              <a:rPr lang="en-US" altLang="ko-KR" sz="1650" b="1" dirty="0"/>
              <a:t>Q4: </a:t>
            </a:r>
            <a:r>
              <a:rPr lang="ko-KR" altLang="ko-KR" sz="1650" b="1" dirty="0"/>
              <a:t>이 결과를 바탕으로 영화관은 연령대별로 어떤 상영 전략이나 프로모션을 세울 수 있을까요?</a:t>
            </a:r>
          </a:p>
          <a:p>
            <a:endParaRPr lang="en-US" altLang="ko-KR" sz="1650" dirty="0"/>
          </a:p>
          <a:p>
            <a:pPr>
              <a:lnSpc>
                <a:spcPct val="120000"/>
              </a:lnSpc>
            </a:pPr>
            <a:r>
              <a:rPr lang="en-US" altLang="ko-KR" sz="1650" b="1" dirty="0"/>
              <a:t>A4:</a:t>
            </a:r>
            <a:r>
              <a:rPr lang="en-US" altLang="ko-KR" sz="1650" dirty="0"/>
              <a:t> </a:t>
            </a:r>
            <a:r>
              <a:rPr lang="ko-KR" altLang="ko-KR" sz="1500" dirty="0"/>
              <a:t>관측 빈도를 보면 20대는 액션(70명)을 로맨스(30명)보다 훨씬 선호하고,</a:t>
            </a:r>
            <a:r>
              <a:rPr lang="en-US" altLang="ko-KR" sz="1500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500" dirty="0"/>
              <a:t>         </a:t>
            </a:r>
            <a:r>
              <a:rPr lang="ko-KR" altLang="ko-KR" sz="1500" dirty="0"/>
              <a:t>40대는 반대로 로맨스(60명)를 액션(30명)보다</a:t>
            </a:r>
            <a:r>
              <a:rPr lang="en-US" altLang="ko-KR" sz="1500" dirty="0"/>
              <a:t> </a:t>
            </a:r>
            <a:r>
              <a:rPr lang="ko-KR" altLang="ko-KR" sz="1500" dirty="0"/>
              <a:t>선호하는 뚜렷한 경향이 있다. 30대는 두 장르 선호도가 비슷하다(50 </a:t>
            </a:r>
            <a:r>
              <a:rPr lang="ko-KR" altLang="ko-KR" sz="1500" dirty="0" err="1"/>
              <a:t>vs</a:t>
            </a:r>
            <a:r>
              <a:rPr lang="ko-KR" altLang="ko-KR" sz="1500" dirty="0"/>
              <a:t> 60).</a:t>
            </a:r>
          </a:p>
          <a:p>
            <a:endParaRPr lang="en-US" altLang="ko-KR" sz="1500" dirty="0"/>
          </a:p>
          <a:p>
            <a:r>
              <a:rPr lang="ko-KR" altLang="ko-KR" sz="1500" dirty="0"/>
              <a:t>연령대와 선호 장르 간 유의미한 연관성이 확인된 만큼, 영화관은</a:t>
            </a:r>
            <a:endParaRPr lang="en-US" altLang="ko-KR" sz="1500" dirty="0"/>
          </a:p>
          <a:p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ko-KR" altLang="ko-KR" sz="1500" dirty="0"/>
              <a:t>① 연령대별 타겟 프로모션(20대-액션 </a:t>
            </a:r>
            <a:r>
              <a:rPr lang="ko-KR" altLang="ko-KR" sz="1500" dirty="0" err="1"/>
              <a:t>굿즈·SNS</a:t>
            </a:r>
            <a:r>
              <a:rPr lang="ko-KR" altLang="ko-KR" sz="1500" dirty="0"/>
              <a:t> 이벤트, 40대-로맨스·커플 패키지)</a:t>
            </a: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ko-KR" altLang="ko-KR" sz="1500" dirty="0"/>
              <a:t>② </a:t>
            </a:r>
            <a:r>
              <a:rPr lang="ko-KR" altLang="ko-KR" sz="1500" dirty="0" err="1"/>
              <a:t>상영관·시간대</a:t>
            </a:r>
            <a:r>
              <a:rPr lang="ko-KR" altLang="ko-KR" sz="1500" dirty="0"/>
              <a:t> 배정 최적화(선호 연령대가 몰리는 시간에 관련 장르 상영 비중 확대)</a:t>
            </a: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ko-KR" altLang="ko-KR" sz="1500" dirty="0"/>
              <a:t>③ 데이터 기반 개인화 추천(연령대별 선호 데이터를 멤버십에 반영한 맞춤 추천)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ko-KR" sz="1500" dirty="0"/>
              <a:t>이라는</a:t>
            </a:r>
            <a:r>
              <a:rPr lang="en-US" altLang="ko-KR" sz="1500" dirty="0"/>
              <a:t> </a:t>
            </a:r>
            <a:r>
              <a:rPr lang="ko-KR" altLang="ko-KR" sz="1500" dirty="0"/>
              <a:t>세 방향으로 마케팅 전략을 세울 수 있다.</a:t>
            </a:r>
            <a:endParaRPr lang="en-US" altLang="ko-KR" sz="15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AD171C-00A3-76F5-747C-DCE812FCA588}"/>
              </a:ext>
            </a:extLst>
          </p:cNvPr>
          <p:cNvCxnSpPr/>
          <p:nvPr/>
        </p:nvCxnSpPr>
        <p:spPr>
          <a:xfrm flipV="1">
            <a:off x="518158" y="3499465"/>
            <a:ext cx="11058061" cy="704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1">
            <a:extLst>
              <a:ext uri="{FF2B5EF4-FFF2-40B4-BE49-F238E27FC236}">
                <a16:creationId xmlns:a16="http://schemas.microsoft.com/office/drawing/2014/main" id="{85550DD5-C0B4-8618-7DC5-5C55EDAA402A}"/>
              </a:ext>
            </a:extLst>
          </p:cNvPr>
          <p:cNvSpPr txBox="1">
            <a:spLocks/>
          </p:cNvSpPr>
          <p:nvPr/>
        </p:nvSpPr>
        <p:spPr>
          <a:xfrm>
            <a:off x="872972" y="763099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sz="2700"/>
              <a:t>🧠 데이터를 어떻게 읽을까요</a:t>
            </a:r>
            <a:r>
              <a:rPr lang="en-US" altLang="ko-KR" sz="2700"/>
              <a:t>?</a:t>
            </a:r>
            <a:br>
              <a:rPr lang="en-US" altLang="ko-KR" sz="2700"/>
            </a:b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67406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latinLnBrk="0"/>
            <a:r>
              <a:rPr lang="ko-KR" altLang="en-US" sz="5400" b="1" i="0" dirty="0">
                <a:solidFill>
                  <a:srgbClr val="1A1918"/>
                </a:solidFill>
                <a:effectLst/>
                <a:latin typeface="Pretendard"/>
              </a:rPr>
              <a:t>감사합니다</a:t>
            </a:r>
            <a:r>
              <a:rPr lang="en-US" altLang="ko-KR" sz="5400" b="1" i="0" dirty="0">
                <a:solidFill>
                  <a:srgbClr val="1A1918"/>
                </a:solidFill>
                <a:effectLst/>
                <a:latin typeface="Pretendard"/>
              </a:rPr>
              <a:t>.</a:t>
            </a:r>
            <a:endParaRPr lang="ko-KR" altLang="en-US" sz="5400" b="1" i="0" dirty="0">
              <a:solidFill>
                <a:srgbClr val="1A1918"/>
              </a:solidFill>
              <a:effectLst/>
              <a:latin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en-US" altLang="ko-KR" dirty="0"/>
              <a:t>C2: </a:t>
            </a:r>
            <a:r>
              <a:rPr lang="ko-KR" altLang="en-US" dirty="0" err="1"/>
              <a:t>정호성</a:t>
            </a:r>
            <a:r>
              <a:rPr lang="en-US" altLang="ko-KR" dirty="0"/>
              <a:t>(</a:t>
            </a:r>
            <a:r>
              <a:rPr lang="ko-KR" altLang="en-US" dirty="0"/>
              <a:t>발표</a:t>
            </a:r>
            <a:r>
              <a:rPr lang="en-US" altLang="ko-KR"/>
              <a:t>), </a:t>
            </a:r>
            <a:r>
              <a:rPr lang="ko-KR" altLang="en-US" dirty="0" err="1"/>
              <a:t>표시철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), </a:t>
            </a:r>
            <a:r>
              <a:rPr lang="ko-KR" altLang="en-US" dirty="0"/>
              <a:t>전유나</a:t>
            </a:r>
            <a:r>
              <a:rPr lang="en-US" altLang="ko-KR" dirty="0"/>
              <a:t>, </a:t>
            </a:r>
            <a:r>
              <a:rPr lang="ko-KR" altLang="en-US" dirty="0"/>
              <a:t>안나영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77502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0_TF89213316_Win32_OJ108761954" id="{2C949246-E701-4358-AE1D-5E981A9339C9}" vid="{1C9D17EB-7AF8-47B4-A0BF-F0125A4D3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프레젠테이션</Template>
  <TotalTime>156</TotalTime>
  <Words>837</Words>
  <Application>Microsoft Office PowerPoint</Application>
  <PresentationFormat>와이드스크린</PresentationFormat>
  <Paragraphs>130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Pretendard</vt:lpstr>
      <vt:lpstr>맑은 고딕</vt:lpstr>
      <vt:lpstr>Arial</vt:lpstr>
      <vt:lpstr>Calibri</vt:lpstr>
      <vt:lpstr>Consolas</vt:lpstr>
      <vt:lpstr>Wingdings</vt:lpstr>
      <vt:lpstr>AccentBoxVTI</vt:lpstr>
      <vt:lpstr>문제 4. 연령대별로 선호하는               영화 장르가 다를까?</vt:lpstr>
      <vt:lpstr>문제 4. 독립성검정 실습</vt:lpstr>
      <vt:lpstr>관측 데이터 생성</vt:lpstr>
      <vt:lpstr>Q1, Q2: 가설설정 &amp; 기대빈도 구하기</vt:lpstr>
      <vt:lpstr>Q3. 연령대와 선호 장르가 독립이라면" 어떤 분할표들이 나타날 수 있는지 5,000번 시뮬레이션해보고 히스토그램으로 그려보기</vt:lpstr>
      <vt:lpstr>🧠 데이터를 어떻게 읽을까요? </vt:lpstr>
      <vt:lpstr>PowerPoint 프레젠테이션</vt:lpstr>
      <vt:lpstr>PowerPoint 프레젠테이션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AccentBox(강조 상자)</dc:title>
  <dc:creator>표스츄리</dc:creator>
  <cp:lastModifiedBy>msjeonc@naver.com</cp:lastModifiedBy>
  <cp:revision>51</cp:revision>
  <dcterms:created xsi:type="dcterms:W3CDTF">2026-07-27T05:32:26Z</dcterms:created>
  <dcterms:modified xsi:type="dcterms:W3CDTF">2026-07-28T07:17:05Z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